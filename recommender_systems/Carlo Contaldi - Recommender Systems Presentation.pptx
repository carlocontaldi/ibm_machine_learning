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27"/>
  </p:notesMasterIdLst>
  <p:handoutMasterIdLst>
    <p:handoutMasterId r:id="rId28"/>
  </p:handoutMasterIdLst>
  <p:sldIdLst>
    <p:sldId id="336" r:id="rId5"/>
    <p:sldId id="330" r:id="rId6"/>
    <p:sldId id="332" r:id="rId7"/>
    <p:sldId id="337" r:id="rId8"/>
    <p:sldId id="340" r:id="rId9"/>
    <p:sldId id="339" r:id="rId10"/>
    <p:sldId id="341" r:id="rId11"/>
    <p:sldId id="348" r:id="rId12"/>
    <p:sldId id="334" r:id="rId13"/>
    <p:sldId id="342" r:id="rId14"/>
    <p:sldId id="343" r:id="rId15"/>
    <p:sldId id="344" r:id="rId16"/>
    <p:sldId id="345" r:id="rId17"/>
    <p:sldId id="346" r:id="rId18"/>
    <p:sldId id="347" r:id="rId19"/>
    <p:sldId id="335" r:id="rId20"/>
    <p:sldId id="350" r:id="rId21"/>
    <p:sldId id="351" r:id="rId22"/>
    <p:sldId id="352" r:id="rId23"/>
    <p:sldId id="353" r:id="rId24"/>
    <p:sldId id="354" r:id="rId25"/>
    <p:sldId id="275" r:id="rId26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4A8AD38-B96A-91DD-A5EE-F071B1F8A280}" name="Carlo Contaldi" initials="CC" userId="4261729796f4d7de" providerId="Windows Live"/>
  <p188:author id="{DF1590AA-02B3-4ADE-F57B-86D5AB206163}" name="Jarrod Renfro" initials="JR" userId="Jarrod Renfro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4F8"/>
    <a:srgbClr val="0948CB"/>
    <a:srgbClr val="0B49CB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CD8776-55A0-8382-EAD9-5B99C69C76D4}" v="530" dt="2026-04-15T08:20:32.886"/>
    <p1510:client id="{D8628353-B89F-D8B6-11EA-A5640C343CB5}" v="1468" dt="2026-04-16T11:32:58.545"/>
    <p1510:client id="{DEF29FDE-457C-347E-1C50-0FB901AF5A9D}" v="361" dt="2026-04-15T10:44:13.790"/>
    <p1510:client id="{EA805401-16B5-8BE8-902F-AE3A574CB8B2}" v="253" dt="2026-04-15T16:53:12.154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9"/>
    <p:restoredTop sz="85169"/>
  </p:normalViewPr>
  <p:slideViewPr>
    <p:cSldViewPr snapToGrid="0" snapToObjects="1">
      <p:cViewPr varScale="1">
        <p:scale>
          <a:sx n="132" d="100"/>
          <a:sy n="132" d="100"/>
        </p:scale>
        <p:origin x="2256" y="184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61729796F4D7DE/ml-capstone-template-coursera_ColumnCluster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61729796F4D7DE/ml-capstone-template-coursera_ColumnCluster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61729796F4D7DE/ml-capstone-template-coursera_ColumnClustere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61729796F4D7DE/ml-capstone-template-coursera_ColumnClustere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#Recommendations per user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Threshold = 10</c:v>
                </c:pt>
                <c:pt idx="1">
                  <c:v>Threshold = 20</c:v>
                </c:pt>
                <c:pt idx="2">
                  <c:v>Threshold = 30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</c:v>
                </c:pt>
                <c:pt idx="1">
                  <c:v>29</c:v>
                </c:pt>
                <c:pt idx="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08-44AA-B9F6-A4D0A0AF38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7644551"/>
        <c:axId val="97648135"/>
      </c:barChart>
      <c:catAx>
        <c:axId val="97644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648135"/>
        <c:crosses val="autoZero"/>
        <c:auto val="1"/>
        <c:lblAlgn val="ctr"/>
        <c:lblOffset val="100"/>
        <c:noMultiLvlLbl val="0"/>
      </c:catAx>
      <c:valAx>
        <c:axId val="97648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644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Sheet1!$B$6</c:f>
              <c:strCache>
                <c:ptCount val="1"/>
                <c:pt idx="0">
                  <c:v>#Recommendations per user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Sheet1!$A$7:$A$9</c:f>
              <c:strCache>
                <c:ptCount val="3"/>
                <c:pt idx="0">
                  <c:v>Threshold = 0.5</c:v>
                </c:pt>
                <c:pt idx="1">
                  <c:v>Threshold = 0.6</c:v>
                </c:pt>
                <c:pt idx="2">
                  <c:v>Threshold = 0.7</c:v>
                </c:pt>
              </c:strCache>
            </c:strRef>
          </c:cat>
          <c:val>
            <c:numRef>
              <c:f>Sheet1!$B$7:$B$9</c:f>
              <c:numCache>
                <c:formatCode>General</c:formatCode>
                <c:ptCount val="3"/>
                <c:pt idx="0">
                  <c:v>3.2</c:v>
                </c:pt>
                <c:pt idx="1">
                  <c:v>1.1000000000000001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69-4FED-87F7-E352783E2B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66495239"/>
        <c:axId val="1566497287"/>
      </c:barChart>
      <c:catAx>
        <c:axId val="15664952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6497287"/>
        <c:crosses val="autoZero"/>
        <c:auto val="1"/>
        <c:lblAlgn val="ctr"/>
        <c:lblOffset val="100"/>
        <c:noMultiLvlLbl val="0"/>
      </c:catAx>
      <c:valAx>
        <c:axId val="1566497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64952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#Recommendations per User with Clustering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Sheet1!$B$11</c:f>
              <c:strCache>
                <c:ptCount val="1"/>
                <c:pt idx="0">
                  <c:v>#Recommendations per user with PCA + K-Means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Sheet1!$A$12:$A$14</c:f>
              <c:strCache>
                <c:ptCount val="3"/>
                <c:pt idx="0">
                  <c:v>Threshold = 100</c:v>
                </c:pt>
                <c:pt idx="1">
                  <c:v>Threshold = 200</c:v>
                </c:pt>
                <c:pt idx="2">
                  <c:v>Threshold = 300</c:v>
                </c:pt>
              </c:strCache>
            </c:strRef>
          </c:cat>
          <c:val>
            <c:numRef>
              <c:f>Sheet1!$B$12:$B$14</c:f>
              <c:numCache>
                <c:formatCode>General</c:formatCode>
                <c:ptCount val="3"/>
                <c:pt idx="0">
                  <c:v>37</c:v>
                </c:pt>
                <c:pt idx="1">
                  <c:v>24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D3-407E-93D7-F3871BE58754}"/>
            </c:ext>
          </c:extLst>
        </c:ser>
        <c:ser>
          <c:idx val="1"/>
          <c:order val="1"/>
          <c:tx>
            <c:strRef>
              <c:f>Sheet1!$C$11</c:f>
              <c:strCache>
                <c:ptCount val="1"/>
                <c:pt idx="0">
                  <c:v>#Recommendations per user with PCA + Agglomerative Clustering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Sheet1!$A$12:$A$14</c:f>
              <c:strCache>
                <c:ptCount val="3"/>
                <c:pt idx="0">
                  <c:v>Threshold = 100</c:v>
                </c:pt>
                <c:pt idx="1">
                  <c:v>Threshold = 200</c:v>
                </c:pt>
                <c:pt idx="2">
                  <c:v>Threshold = 300</c:v>
                </c:pt>
              </c:strCache>
            </c:strRef>
          </c:cat>
          <c:val>
            <c:numRef>
              <c:f>Sheet1!$C$12:$C$14</c:f>
              <c:numCache>
                <c:formatCode>General</c:formatCode>
                <c:ptCount val="3"/>
                <c:pt idx="0">
                  <c:v>34</c:v>
                </c:pt>
                <c:pt idx="1">
                  <c:v>24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D3-407E-93D7-F3871BE587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7234056"/>
        <c:axId val="1927236104"/>
      </c:barChart>
      <c:catAx>
        <c:axId val="1927234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236104"/>
        <c:crosses val="autoZero"/>
        <c:auto val="1"/>
        <c:lblAlgn val="ctr"/>
        <c:lblOffset val="100"/>
        <c:noMultiLvlLbl val="0"/>
      </c:catAx>
      <c:valAx>
        <c:axId val="1927236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234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Sheet1!$B$16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1,303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ADC-4620-880C-AFF885C75C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1,293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ADC-4620-880C-AFF885C75C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Sheet1!$A$17:$A$22</c:f>
              <c:strCache>
                <c:ptCount val="6"/>
                <c:pt idx="0">
                  <c:v>PCA + KNN</c:v>
                </c:pt>
                <c:pt idx="1">
                  <c:v>NMF, #factors=15</c:v>
                </c:pt>
                <c:pt idx="2">
                  <c:v>NMF, #factors=30</c:v>
                </c:pt>
                <c:pt idx="3">
                  <c:v>NN, embedding_size=16, ridge_alpha=1e-6</c:v>
                </c:pt>
                <c:pt idx="4">
                  <c:v>NN, embedding_size=32, ridge_alpha=1e-6</c:v>
                </c:pt>
                <c:pt idx="5">
                  <c:v>NN, embedding_size=16, ridge_alpha=1e-5</c:v>
                </c:pt>
              </c:strCache>
            </c:strRef>
          </c:cat>
          <c:val>
            <c:numRef>
              <c:f>Sheet1!$B$17:$B$22</c:f>
              <c:numCache>
                <c:formatCode>#,##0</c:formatCode>
                <c:ptCount val="6"/>
                <c:pt idx="0" formatCode="General">
                  <c:v>1.29</c:v>
                </c:pt>
                <c:pt idx="1">
                  <c:v>1.3029999999999999</c:v>
                </c:pt>
                <c:pt idx="2">
                  <c:v>1.2929999999999999</c:v>
                </c:pt>
                <c:pt idx="3" formatCode="General">
                  <c:v>0.44500000000000001</c:v>
                </c:pt>
                <c:pt idx="4" formatCode="General">
                  <c:v>0.44800000000000001</c:v>
                </c:pt>
                <c:pt idx="5" formatCode="General">
                  <c:v>0.44400000000000001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DC-4620-880C-AFF885C75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27139847"/>
        <c:axId val="2127141895"/>
      </c:barChart>
      <c:catAx>
        <c:axId val="2127139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7141895"/>
        <c:crosses val="autoZero"/>
        <c:auto val="1"/>
        <c:lblAlgn val="ctr"/>
        <c:lblOffset val="100"/>
        <c:noMultiLvlLbl val="0"/>
      </c:catAx>
      <c:valAx>
        <c:axId val="2127141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7139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24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  <a:t>Histogram showing course counts per genre, with top one (</a:t>
            </a:r>
            <a:r>
              <a:rPr lang="en-US" dirty="0" err="1">
                <a:solidFill>
                  <a:srgbClr val="333333"/>
                </a:solidFill>
                <a:highlight>
                  <a:srgbClr val="FFFFFF"/>
                </a:highlight>
              </a:rPr>
              <a:t>BackendDev</a:t>
            </a:r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  <a:t>) characterized by ~80 courses. It's an expectedly unbalanced distribution.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64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  <a:t>How many users (y axis) enrolled in how many courses (x axis). We can notice how it's most common to be enrolled in a single course, but the next most frequent occurrences are with 5, 6, 7, 8 courses, and so on. Unexpectedly fewer users enrolled in just 2, 3 or 4 courses.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99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DataFrame showing top 20 courses in terms of popularity (enrollments)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88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word cloud of course titles, showing most frequent terms in all courses' text (titles and descriptions)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18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1 get user profile vector – user ratings for each item</a:t>
            </a:r>
            <a:endParaRPr lang="it-IT"/>
          </a:p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2 get course genre vector – genres characterizing each item</a:t>
            </a:r>
            <a:endParaRPr lang="it-IT"/>
          </a:p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3 multiply user ratings by genres matrix to get weighted genre matrix; sum across genres and normalize to get user profile</a:t>
            </a:r>
            <a:endParaRPr lang="it-IT"/>
          </a:p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4 multiply user profile by unknown items matrix to get weighted items matrix; sum over items to get recommendation matrix</a:t>
            </a:r>
            <a:endParaRPr lang="it-IT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16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1 get items unknown by user</a:t>
            </a:r>
            <a:endParaRPr lang="it-IT"/>
          </a:p>
          <a:p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  <a:t>2 get similarity matrix among all items based on </a:t>
            </a:r>
            <a:r>
              <a:rPr lang="en-US" dirty="0" err="1">
                <a:solidFill>
                  <a:srgbClr val="333333"/>
                </a:solidFill>
                <a:highlight>
                  <a:srgbClr val="FFFFFF"/>
                </a:highlight>
              </a:rPr>
              <a:t>BoW</a:t>
            </a:r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  <a:t> or other similarity techniques</a:t>
            </a:r>
            <a:endParaRPr lang="it-IT" dirty="0"/>
          </a:p>
          <a:p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  <a:t>3 get items unknown to user which are similar to enrolled ones based on similarity matrix</a:t>
            </a:r>
            <a:endParaRPr lang="it-IT" dirty="0"/>
          </a:p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4 apply threshold to get recommendation matrix</a:t>
            </a:r>
            <a:endParaRPr lang="it-IT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27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1 get user profile vectors</a:t>
            </a:r>
            <a:endParaRPr lang="it-IT"/>
          </a:p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2 scale data</a:t>
            </a:r>
            <a:endParaRPr lang="it-IT"/>
          </a:p>
          <a:p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  <a:t>3 identify adequate #clusters, e.g. with elbow method</a:t>
            </a:r>
            <a:endParaRPr lang="it-IT" dirty="0"/>
          </a:p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4 cluster users</a:t>
            </a:r>
            <a:endParaRPr lang="it-IT"/>
          </a:p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5 get target user's cluster and find top items from users in the cluster</a:t>
            </a:r>
            <a:endParaRPr lang="it-IT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14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learn similarity weights between active user and a selection of the other users</a:t>
            </a:r>
            <a:endParaRPr lang="it-IT" dirty="0"/>
          </a:p>
          <a:p>
            <a:r>
              <a:rPr lang="en-US" dirty="0"/>
              <a:t>        items seen by active user are taken into account</a:t>
            </a:r>
            <a:endParaRPr lang="it-IT" dirty="0"/>
          </a:p>
          <a:p>
            <a:r>
              <a:rPr lang="en-US"/>
              <a:t>        can be done in many ways</a:t>
            </a:r>
            <a:endParaRPr lang="it-IT"/>
          </a:p>
          <a:p>
            <a:r>
              <a:rPr lang="en-US" dirty="0"/>
              <a:t>            </a:t>
            </a:r>
            <a:r>
              <a:rPr lang="en-US" dirty="0" err="1"/>
              <a:t>euclidean</a:t>
            </a:r>
            <a:r>
              <a:rPr lang="en-US" dirty="0"/>
              <a:t> distance</a:t>
            </a:r>
            <a:endParaRPr lang="it-IT" dirty="0"/>
          </a:p>
          <a:p>
            <a:r>
              <a:rPr lang="en-US" dirty="0"/>
              <a:t>            </a:t>
            </a:r>
            <a:r>
              <a:rPr lang="en-US" dirty="0" err="1"/>
              <a:t>pearson's</a:t>
            </a:r>
            <a:r>
              <a:rPr lang="en-US" dirty="0"/>
              <a:t> correlation</a:t>
            </a:r>
            <a:endParaRPr lang="it-IT" dirty="0"/>
          </a:p>
          <a:p>
            <a:r>
              <a:rPr lang="en-US"/>
              <a:t>            cosine similarity</a:t>
            </a:r>
            <a:endParaRPr lang="it-IT"/>
          </a:p>
          <a:p>
            <a:r>
              <a:rPr lang="en-US" dirty="0"/>
              <a:t>        selection is by the k nearest neighbors</a:t>
            </a:r>
            <a:endParaRPr lang="it-IT" dirty="0"/>
          </a:p>
          <a:p>
            <a:r>
              <a:rPr lang="en-US"/>
              <a:t>2 get Weighted Ratings Matrix by multiplying Ratings Matrix by Similarity Matrix</a:t>
            </a:r>
            <a:endParaRPr lang="it-IT"/>
          </a:p>
          <a:p>
            <a:r>
              <a:rPr lang="en-US"/>
              <a:t>3 get Recommendation Matrix by summing Weighted Ratings for each item, and then by dividing the result by the sum of the involved similarities (weights)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67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1 get the sparse user-item interaction matrix (incomplete)</a:t>
            </a:r>
          </a:p>
          <a:p>
            <a:r>
              <a:rPr lang="en-US" dirty="0">
                <a:ea typeface="Calibri"/>
                <a:cs typeface="Calibri"/>
              </a:rPr>
              <a:t>2 </a:t>
            </a:r>
            <a:r>
              <a:rPr lang="en-US"/>
              <a:t>decompose the matrix into user matrix and item matrix with latent features via NMF</a:t>
            </a:r>
          </a:p>
          <a:p>
            <a:r>
              <a:rPr lang="en-US" dirty="0">
                <a:ea typeface="Calibri"/>
                <a:cs typeface="Calibri"/>
              </a:rPr>
              <a:t>3 it's possible to get any recommendation estimate for user </a:t>
            </a:r>
            <a:r>
              <a:rPr lang="en-US" dirty="0" err="1">
                <a:ea typeface="Calibri"/>
                <a:cs typeface="Calibri"/>
              </a:rPr>
              <a:t>i</a:t>
            </a:r>
            <a:r>
              <a:rPr lang="en-US" dirty="0">
                <a:ea typeface="Calibri"/>
                <a:cs typeface="Calibri"/>
              </a:rPr>
              <a:t> and item j via the dot product of related vectors in latent matrices 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77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allows to predict ratings without building explicit feature vectors</a:t>
            </a:r>
            <a:endParaRPr lang="it-IT"/>
          </a:p>
          <a:p>
            <a:r>
              <a:rPr lang="en-US"/>
              <a:t>like NMF, NNs can be used to extract latent user and item features</a:t>
            </a:r>
            <a:endParaRPr lang="it-IT"/>
          </a:p>
          <a:p>
            <a:r>
              <a:rPr lang="en-US"/>
              <a:t>    can predict course ratings while simultaneously extracting users' and items' latent features</a:t>
            </a:r>
            <a:endParaRPr lang="it-IT"/>
          </a:p>
          <a:p>
            <a:r>
              <a:rPr lang="en-US"/>
              <a:t>1 get user/item rating dataset</a:t>
            </a:r>
            <a:endParaRPr lang="it-IT" dirty="0" err="1"/>
          </a:p>
          <a:p>
            <a:r>
              <a:rPr lang="en-US"/>
              <a:t>2 define one-hot vectors for users and items</a:t>
            </a:r>
            <a:endParaRPr lang="it-IT">
              <a:ea typeface="Calibri" panose="020F0502020204030204"/>
              <a:cs typeface="Calibri" panose="020F0502020204030204"/>
            </a:endParaRPr>
          </a:p>
          <a:p>
            <a:r>
              <a:rPr lang="en-US"/>
              <a:t>3 define user and item embedding layers taking as input such vectors</a:t>
            </a:r>
            <a:endParaRPr lang="it-IT"/>
          </a:p>
          <a:p>
            <a:r>
              <a:rPr lang="en-US"/>
              <a:t>    these layers learn latent features</a:t>
            </a:r>
            <a:endParaRPr lang="it-IT"/>
          </a:p>
          <a:p>
            <a:r>
              <a:rPr lang="en-US"/>
              <a:t>4 they output the embedding feature vectors</a:t>
            </a:r>
            <a:endParaRPr lang="it-IT"/>
          </a:p>
          <a:p>
            <a:r>
              <a:rPr lang="en-US"/>
              <a:t>5 dot product such vectors to get rating estimation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44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KNN- and NMF-based recommender systems yielded similar performances, with an RMSE ~ 1.3. We can observe a substantial improvement with NN-based methods, yielding RMSE values around 0.445. Best NN hyperparameter configuration was observed by considering an embedding size of 16 and a Ridge Alpha value of 1e-5.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21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Based on validation loss trend we can conclude that the model could appreciate further regularization to avoid overfitting and achieve more performing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BCBB462-34C3-D144-9620-F611A0964A6F}"/>
              </a:ext>
            </a:extLst>
          </p:cNvPr>
          <p:cNvGrpSpPr/>
          <p:nvPr/>
        </p:nvGrpSpPr>
        <p:grpSpPr>
          <a:xfrm>
            <a:off x="5871412" y="3820167"/>
            <a:ext cx="6118575" cy="2838753"/>
            <a:chOff x="5136802" y="3703860"/>
            <a:chExt cx="6118575" cy="283875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22F046B-F6EE-4E47-8C57-F6A6A097D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36802" y="3703860"/>
              <a:ext cx="4612478" cy="283875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84E1D9B-0FCE-1D41-A7A6-A153308B8FAB}"/>
                </a:ext>
              </a:extLst>
            </p:cNvPr>
            <p:cNvCxnSpPr>
              <a:cxnSpLocks/>
            </p:cNvCxnSpPr>
            <p:nvPr/>
          </p:nvCxnSpPr>
          <p:spPr>
            <a:xfrm>
              <a:off x="9872146" y="5166220"/>
              <a:ext cx="88580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B6D164AC-71BC-794A-89DA-C74C9525C3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57954" y="4527982"/>
              <a:ext cx="497423" cy="51457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B08AF69-4D62-3045-9FEF-6800D771C946}"/>
              </a:ext>
            </a:extLst>
          </p:cNvPr>
          <p:cNvSpPr txBox="1"/>
          <p:nvPr/>
        </p:nvSpPr>
        <p:spPr>
          <a:xfrm>
            <a:off x="1251284" y="2767280"/>
            <a:ext cx="10241280" cy="1323439"/>
          </a:xfrm>
          <a:prstGeom prst="rect">
            <a:avLst/>
          </a:prstGeom>
          <a:solidFill>
            <a:schemeClr val="bg1">
              <a:alpha val="86117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badi" panose="020B0604020104020204" pitchFamily="34" charset="0"/>
              </a:rPr>
              <a:t>Build a Personalized Online Course Recommender System with Machine Learning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217B24-331B-5040-859E-22982B3A88DA}"/>
              </a:ext>
            </a:extLst>
          </p:cNvPr>
          <p:cNvSpPr txBox="1"/>
          <p:nvPr/>
        </p:nvSpPr>
        <p:spPr>
          <a:xfrm>
            <a:off x="1251284" y="4166431"/>
            <a:ext cx="251460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latin typeface="Abadi"/>
              </a:rPr>
              <a:t>Carlo Contaldi</a:t>
            </a:r>
            <a:endParaRPr lang="it-IT"/>
          </a:p>
          <a:p>
            <a:r>
              <a:rPr lang="en-US" sz="2400">
                <a:latin typeface="Abadi"/>
                <a:ea typeface="SF Pro" pitchFamily="2" charset="0"/>
                <a:cs typeface="SF Pro" pitchFamily="2" charset="0"/>
              </a:rPr>
              <a:t>15/04/2026</a:t>
            </a:r>
            <a:endParaRPr lang="en-US" sz="2400" dirty="0">
              <a:latin typeface="Abadi" panose="020B0604020104020204" pitchFamily="34" charset="0"/>
              <a:ea typeface="SF Pro" pitchFamily="2" charset="0"/>
              <a:cs typeface="SF Pro" pitchFamily="2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6D5268-B673-A742-9436-8948B1C5875A}"/>
              </a:ext>
            </a:extLst>
          </p:cNvPr>
          <p:cNvCxnSpPr>
            <a:cxnSpLocks/>
          </p:cNvCxnSpPr>
          <p:nvPr/>
        </p:nvCxnSpPr>
        <p:spPr>
          <a:xfrm>
            <a:off x="10606756" y="5517217"/>
            <a:ext cx="885808" cy="0"/>
          </a:xfrm>
          <a:prstGeom prst="straightConnector1">
            <a:avLst/>
          </a:prstGeom>
          <a:ln w="19050"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22C788-5750-B448-9946-A3353F7249B8}"/>
              </a:ext>
            </a:extLst>
          </p:cNvPr>
          <p:cNvCxnSpPr>
            <a:cxnSpLocks/>
          </p:cNvCxnSpPr>
          <p:nvPr/>
        </p:nvCxnSpPr>
        <p:spPr>
          <a:xfrm>
            <a:off x="10606756" y="5035201"/>
            <a:ext cx="885808" cy="0"/>
          </a:xfrm>
          <a:prstGeom prst="straightConnector1">
            <a:avLst/>
          </a:prstGeom>
          <a:ln w="19050"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0B8BB15B-3863-C146-97D8-D3D09F989A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92564" y="5406189"/>
            <a:ext cx="497423" cy="5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86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10515600" cy="3320824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 and Background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Exploratory Data Analysis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Content-based Recommender System using Unsupervised Learning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Collaborative-filtering based Recommender System using Supervised learning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sz="4300" dirty="0">
                <a:solidFill>
                  <a:srgbClr val="0B49CB"/>
                </a:solidFill>
                <a:latin typeface="Abadi"/>
              </a:rPr>
              <a:t>Outline</a:t>
            </a:r>
            <a:endParaRPr lang="en-US" dirty="0">
              <a:solidFill>
                <a:srgbClr val="0B49CB"/>
              </a:solidFill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872433" y="1947143"/>
            <a:ext cx="10449541" cy="43484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Online learning platforms such as Coursera offer </a:t>
            </a: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a plethora of courses</a:t>
            </a:r>
            <a:endParaRPr lang="en-US" sz="20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 lvl="1">
              <a:spcBef>
                <a:spcPts val="1400"/>
              </a:spcBef>
              <a:buFont typeface="Courier New"/>
              <a:buChar char="o"/>
            </a:pPr>
            <a:r>
              <a:rPr lang="en-US" sz="16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Virtually over any branch of knowledge</a:t>
            </a:r>
          </a:p>
          <a:p>
            <a:pPr lvl="1">
              <a:spcBef>
                <a:spcPts val="1400"/>
              </a:spcBef>
              <a:buFont typeface="Courier New"/>
              <a:buChar char="o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Useful for any kind of job/activity</a:t>
            </a:r>
            <a:endParaRPr lang="en-US" sz="16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 lvl="1">
              <a:spcBef>
                <a:spcPts val="1400"/>
              </a:spcBef>
              <a:buFont typeface="Courier New"/>
              <a:buChar char="o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World-class learning for individuals and organizations</a:t>
            </a:r>
            <a:endParaRPr lang="en-US" sz="16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spcBef>
                <a:spcPts val="1400"/>
              </a:spcBef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Challenge – Recommend the most adequate courses to millions of learners</a:t>
            </a:r>
            <a:endParaRPr lang="en-US" sz="20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lvl="1">
              <a:spcBef>
                <a:spcPts val="1400"/>
              </a:spcBef>
              <a:buFont typeface="Courier New"/>
              <a:buChar char="o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Based on their goals, aspirations, interests, areas of improvement</a:t>
            </a:r>
          </a:p>
          <a:p>
            <a:pPr lvl="1">
              <a:spcBef>
                <a:spcPts val="1400"/>
              </a:spcBef>
              <a:buFont typeface="Courier New"/>
              <a:buChar char="o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This project offers Machine Learning solutions for a Personalized Online Course Recommender System</a:t>
            </a:r>
          </a:p>
          <a:p>
            <a:pPr lvl="2">
              <a:spcBef>
                <a:spcPts val="1400"/>
              </a:spcBef>
              <a:buFont typeface="Wingdings"/>
              <a:buChar char="§"/>
            </a:pPr>
            <a:r>
              <a:rPr lang="en-US" sz="1200">
                <a:solidFill>
                  <a:schemeClr val="accent3">
                    <a:lumMod val="25000"/>
                  </a:schemeClr>
                </a:solidFill>
                <a:latin typeface="Abadi"/>
              </a:rPr>
              <a:t>Unsupervised methods – User Profile-based, Course Similarity-based, Clustering-based</a:t>
            </a:r>
          </a:p>
          <a:p>
            <a:pPr lvl="2">
              <a:spcBef>
                <a:spcPts val="1400"/>
              </a:spcBef>
              <a:buFont typeface="Wingdings"/>
              <a:buChar char="§"/>
            </a:pPr>
            <a:r>
              <a:rPr lang="en-US" sz="1200">
                <a:solidFill>
                  <a:schemeClr val="accent3">
                    <a:lumMod val="25000"/>
                  </a:schemeClr>
                </a:solidFill>
                <a:latin typeface="Abadi"/>
              </a:rPr>
              <a:t>Supervised methods – KNN, NMF, NN Embeddings</a:t>
            </a:r>
            <a:endParaRPr lang="en-US" sz="1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FF7BC5-E183-2F4D-BC8D-2C69A220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Exploratory Data Analysis</a:t>
            </a:r>
            <a:endParaRPr lang="en-US" dirty="0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693C86CF-B31B-4549-BA68-C5C2DB4748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33055" y="5553777"/>
            <a:ext cx="1028790" cy="102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34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, diagramma, line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1173EF85-297F-E50C-16FC-6A97CC4F9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271" y="674914"/>
            <a:ext cx="8719457" cy="580208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26EB370-3F0F-1B41-BFE3-77AFB99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B49CB"/>
                </a:solidFill>
                <a:latin typeface="Abadi"/>
              </a:rPr>
              <a:t>Course counts per genre</a:t>
            </a:r>
          </a:p>
        </p:txBody>
      </p:sp>
    </p:spTree>
    <p:extLst>
      <p:ext uri="{BB962C8B-B14F-4D97-AF65-F5344CB8AC3E}">
        <p14:creationId xmlns:p14="http://schemas.microsoft.com/office/powerpoint/2010/main" val="27655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, schermat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0334A959-E350-F790-E0C3-0E39C618A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783" y="789608"/>
            <a:ext cx="7222434" cy="535608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26EB370-3F0F-1B41-BFE3-77AFB99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B49CB"/>
                </a:solidFill>
                <a:latin typeface="Abadi"/>
              </a:rPr>
              <a:t>Course enrollment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2945704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6EB370-3F0F-1B41-BFE3-77AFB99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B49CB"/>
                </a:solidFill>
                <a:latin typeface="Abadi"/>
              </a:rPr>
              <a:t>20 most popular courses</a:t>
            </a:r>
          </a:p>
        </p:txBody>
      </p:sp>
      <p:pic>
        <p:nvPicPr>
          <p:cNvPr id="3" name="Picture 2" descr="A picture containing table&#10;&#10;Description automatically generated">
            <a:extLst>
              <a:ext uri="{FF2B5EF4-FFF2-40B4-BE49-F238E27FC236}">
                <a16:creationId xmlns:a16="http://schemas.microsoft.com/office/drawing/2014/main" id="{BF6B57C4-4AE4-F043-8236-F19111A21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345" y="2696546"/>
            <a:ext cx="2590800" cy="3594100"/>
          </a:xfrm>
          <a:prstGeom prst="rect">
            <a:avLst/>
          </a:prstGeom>
        </p:spPr>
      </p:pic>
      <p:pic>
        <p:nvPicPr>
          <p:cNvPr id="2" name="Immagine 1" descr="Immagine che contiene testo, schermata, Carattere, documento&#10;&#10;Il contenuto generato dall&amp;#39;IA potrebbe non essere corretto.">
            <a:extLst>
              <a:ext uri="{FF2B5EF4-FFF2-40B4-BE49-F238E27FC236}">
                <a16:creationId xmlns:a16="http://schemas.microsoft.com/office/drawing/2014/main" id="{5C567C79-3EC9-8B42-CD55-7DE54556F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816" y="877454"/>
            <a:ext cx="3620821" cy="583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796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Carattere, schermata, Elementi grafici&#10;&#10;Il contenuto generato dall&amp;#39;IA potrebbe non essere corretto.">
            <a:extLst>
              <a:ext uri="{FF2B5EF4-FFF2-40B4-BE49-F238E27FC236}">
                <a16:creationId xmlns:a16="http://schemas.microsoft.com/office/drawing/2014/main" id="{4FF925EC-CFB2-E479-2B64-28E67070B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71500"/>
            <a:ext cx="11430000" cy="5715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26EB370-3F0F-1B41-BFE3-77AFB99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B49CB"/>
                </a:solidFill>
                <a:latin typeface="Abadi"/>
              </a:rPr>
              <a:t>Word cloud of course titles</a:t>
            </a:r>
          </a:p>
        </p:txBody>
      </p:sp>
    </p:spTree>
    <p:extLst>
      <p:ext uri="{BB962C8B-B14F-4D97-AF65-F5344CB8AC3E}">
        <p14:creationId xmlns:p14="http://schemas.microsoft.com/office/powerpoint/2010/main" val="126893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FF7BC5-E183-2F4D-BC8D-2C69A220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Content-based Recommender System using Unsupervised Learning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E5A2644-0171-6540-A231-9FCA3C81BFE2}"/>
              </a:ext>
            </a:extLst>
          </p:cNvPr>
          <p:cNvGrpSpPr/>
          <p:nvPr/>
        </p:nvGrpSpPr>
        <p:grpSpPr>
          <a:xfrm>
            <a:off x="10108253" y="4562475"/>
            <a:ext cx="1777449" cy="1936444"/>
            <a:chOff x="6518030" y="1903899"/>
            <a:chExt cx="1777449" cy="193644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41B8904-28C2-BB44-8166-C42C96ED6936}"/>
                </a:ext>
              </a:extLst>
            </p:cNvPr>
            <p:cNvGrpSpPr/>
            <p:nvPr/>
          </p:nvGrpSpPr>
          <p:grpSpPr>
            <a:xfrm>
              <a:off x="6580009" y="2268106"/>
              <a:ext cx="1530912" cy="1268847"/>
              <a:chOff x="6371670" y="1861616"/>
              <a:chExt cx="1530912" cy="126884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636D0BA-2B52-A240-B7B8-0256F4E2A394}"/>
                  </a:ext>
                </a:extLst>
              </p:cNvPr>
              <p:cNvGrpSpPr/>
              <p:nvPr/>
            </p:nvGrpSpPr>
            <p:grpSpPr>
              <a:xfrm>
                <a:off x="6371670" y="2318149"/>
                <a:ext cx="812314" cy="812314"/>
                <a:chOff x="1306239" y="1551525"/>
                <a:chExt cx="2116181" cy="2116182"/>
              </a:xfrm>
              <a:noFill/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4F59816-7FAC-974F-A8D7-19B047D553D1}"/>
                    </a:ext>
                  </a:extLst>
                </p:cNvPr>
                <p:cNvSpPr/>
                <p:nvPr/>
              </p:nvSpPr>
              <p:spPr>
                <a:xfrm>
                  <a:off x="1306239" y="1551525"/>
                  <a:ext cx="2116181" cy="2116182"/>
                </a:xfrm>
                <a:prstGeom prst="ellipse">
                  <a:avLst/>
                </a:prstGeom>
                <a:grp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DC838075-FE41-3C47-B7F8-7CD30B06125D}"/>
                    </a:ext>
                  </a:extLst>
                </p:cNvPr>
                <p:cNvSpPr/>
                <p:nvPr/>
              </p:nvSpPr>
              <p:spPr>
                <a:xfrm>
                  <a:off x="2213298" y="2505733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E57CEC24-7385-FC49-A319-AB8C2130A10A}"/>
                    </a:ext>
                  </a:extLst>
                </p:cNvPr>
                <p:cNvSpPr/>
                <p:nvPr/>
              </p:nvSpPr>
              <p:spPr>
                <a:xfrm>
                  <a:off x="2505921" y="2757016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4BC96BD4-7E7A-8445-86C6-6BF36139BBEF}"/>
                    </a:ext>
                  </a:extLst>
                </p:cNvPr>
                <p:cNvSpPr/>
                <p:nvPr/>
              </p:nvSpPr>
              <p:spPr>
                <a:xfrm>
                  <a:off x="2260449" y="1912727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B72FE188-017A-B643-9B83-F2A767174EFF}"/>
                    </a:ext>
                  </a:extLst>
                </p:cNvPr>
                <p:cNvSpPr/>
                <p:nvPr/>
              </p:nvSpPr>
              <p:spPr>
                <a:xfrm>
                  <a:off x="1796755" y="2744815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2A566CA9-49EE-AB41-83BE-DE726A76CE6A}"/>
                    </a:ext>
                  </a:extLst>
                </p:cNvPr>
                <p:cNvSpPr/>
                <p:nvPr/>
              </p:nvSpPr>
              <p:spPr>
                <a:xfrm>
                  <a:off x="2542075" y="3127616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F5C28428-062D-E14C-82E6-DA94F7EF31AB}"/>
                    </a:ext>
                  </a:extLst>
                </p:cNvPr>
                <p:cNvSpPr/>
                <p:nvPr/>
              </p:nvSpPr>
              <p:spPr>
                <a:xfrm>
                  <a:off x="3074398" y="2602676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769CEB11-DD69-474E-BBAE-8C10177D3C3F}"/>
                    </a:ext>
                  </a:extLst>
                </p:cNvPr>
                <p:cNvSpPr/>
                <p:nvPr/>
              </p:nvSpPr>
              <p:spPr>
                <a:xfrm>
                  <a:off x="2846933" y="2941322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0E68BDB6-C52E-DD4A-B920-6CBEF8EE3F5F}"/>
                    </a:ext>
                  </a:extLst>
                </p:cNvPr>
                <p:cNvSpPr/>
                <p:nvPr/>
              </p:nvSpPr>
              <p:spPr>
                <a:xfrm>
                  <a:off x="2480245" y="2335703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E6BE7FA6-4444-D940-BE86-2E836B237A97}"/>
                    </a:ext>
                  </a:extLst>
                </p:cNvPr>
                <p:cNvSpPr/>
                <p:nvPr/>
              </p:nvSpPr>
              <p:spPr>
                <a:xfrm>
                  <a:off x="1360431" y="2433164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53476B79-2F43-EC40-8768-FE48D7B6AA2E}"/>
                    </a:ext>
                  </a:extLst>
                </p:cNvPr>
                <p:cNvSpPr/>
                <p:nvPr/>
              </p:nvSpPr>
              <p:spPr>
                <a:xfrm>
                  <a:off x="2004522" y="3103028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79D4550-5CE1-9E49-9733-CBA34FE0DD54}"/>
                  </a:ext>
                </a:extLst>
              </p:cNvPr>
              <p:cNvGrpSpPr/>
              <p:nvPr/>
            </p:nvGrpSpPr>
            <p:grpSpPr>
              <a:xfrm>
                <a:off x="7090268" y="1861616"/>
                <a:ext cx="812314" cy="812314"/>
                <a:chOff x="1306241" y="1551525"/>
                <a:chExt cx="2116182" cy="2116182"/>
              </a:xfrm>
              <a:noFill/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3EDBC5E1-AEE7-2A4C-9CCE-D6FE884FE831}"/>
                    </a:ext>
                  </a:extLst>
                </p:cNvPr>
                <p:cNvSpPr/>
                <p:nvPr/>
              </p:nvSpPr>
              <p:spPr>
                <a:xfrm>
                  <a:off x="1306241" y="1551525"/>
                  <a:ext cx="2116182" cy="2116182"/>
                </a:xfrm>
                <a:prstGeom prst="ellipse">
                  <a:avLst/>
                </a:prstGeom>
                <a:grp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7DE73D3B-6172-AD4A-8114-5DA3984DA6B8}"/>
                    </a:ext>
                  </a:extLst>
                </p:cNvPr>
                <p:cNvSpPr/>
                <p:nvPr/>
              </p:nvSpPr>
              <p:spPr>
                <a:xfrm>
                  <a:off x="2213298" y="2505733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F962E44D-FBA1-D543-B29E-3BD27B00E509}"/>
                    </a:ext>
                  </a:extLst>
                </p:cNvPr>
                <p:cNvSpPr/>
                <p:nvPr/>
              </p:nvSpPr>
              <p:spPr>
                <a:xfrm>
                  <a:off x="2505921" y="2757016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B6257EEC-3C03-0546-9ACD-4DCDB1819397}"/>
                    </a:ext>
                  </a:extLst>
                </p:cNvPr>
                <p:cNvSpPr/>
                <p:nvPr/>
              </p:nvSpPr>
              <p:spPr>
                <a:xfrm>
                  <a:off x="2260449" y="1912727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C8325B40-CC4B-6445-8AA8-D6AA369D34A4}"/>
                    </a:ext>
                  </a:extLst>
                </p:cNvPr>
                <p:cNvSpPr/>
                <p:nvPr/>
              </p:nvSpPr>
              <p:spPr>
                <a:xfrm>
                  <a:off x="1796755" y="2744815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30369C21-DFFB-4B46-A1A5-A3B9B2BD5D3D}"/>
                    </a:ext>
                  </a:extLst>
                </p:cNvPr>
                <p:cNvSpPr/>
                <p:nvPr/>
              </p:nvSpPr>
              <p:spPr>
                <a:xfrm>
                  <a:off x="2542075" y="3127616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155E267-602E-DA43-8ADA-80A77E2F6BAA}"/>
                    </a:ext>
                  </a:extLst>
                </p:cNvPr>
                <p:cNvSpPr/>
                <p:nvPr/>
              </p:nvSpPr>
              <p:spPr>
                <a:xfrm>
                  <a:off x="3074398" y="2602676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21EFCDA0-8E24-3F4E-9729-B109832A37F5}"/>
                    </a:ext>
                  </a:extLst>
                </p:cNvPr>
                <p:cNvSpPr/>
                <p:nvPr/>
              </p:nvSpPr>
              <p:spPr>
                <a:xfrm>
                  <a:off x="2846933" y="2941322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D01B9D4C-4986-CE4F-AAC2-0B2B3DE03C87}"/>
                    </a:ext>
                  </a:extLst>
                </p:cNvPr>
                <p:cNvSpPr/>
                <p:nvPr/>
              </p:nvSpPr>
              <p:spPr>
                <a:xfrm>
                  <a:off x="2480245" y="2335703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63D505A4-48AE-AC40-87FA-FC0E50F6B75A}"/>
                    </a:ext>
                  </a:extLst>
                </p:cNvPr>
                <p:cNvSpPr/>
                <p:nvPr/>
              </p:nvSpPr>
              <p:spPr>
                <a:xfrm>
                  <a:off x="1360431" y="2433164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F6A3959-23EF-B243-97DE-A3CBF9EE4626}"/>
                    </a:ext>
                  </a:extLst>
                </p:cNvPr>
                <p:cNvSpPr/>
                <p:nvPr/>
              </p:nvSpPr>
              <p:spPr>
                <a:xfrm>
                  <a:off x="2004522" y="3103028"/>
                  <a:ext cx="207767" cy="207767"/>
                </a:xfrm>
                <a:prstGeom prst="ellipse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6FFD52-F70F-854D-8DC1-D1F09F5ACAD2}"/>
                </a:ext>
              </a:extLst>
            </p:cNvPr>
            <p:cNvSpPr txBox="1"/>
            <p:nvPr/>
          </p:nvSpPr>
          <p:spPr>
            <a:xfrm>
              <a:off x="6518030" y="3471011"/>
              <a:ext cx="1072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Cluster1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858FD9-B27C-0C44-8B7A-44D908A27760}"/>
                </a:ext>
              </a:extLst>
            </p:cNvPr>
            <p:cNvSpPr txBox="1"/>
            <p:nvPr/>
          </p:nvSpPr>
          <p:spPr>
            <a:xfrm>
              <a:off x="7222749" y="1903899"/>
              <a:ext cx="1072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Cluster2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853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6EB370-3F0F-1B41-BFE3-77AFB99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B49CB"/>
                </a:solidFill>
                <a:latin typeface="Abadi"/>
              </a:rPr>
              <a:t>Flowchart of content-based recommender system using user profile and course genres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C6EFA7D-6612-77C2-4545-503325067223}"/>
              </a:ext>
            </a:extLst>
          </p:cNvPr>
          <p:cNvSpPr/>
          <p:nvPr/>
        </p:nvSpPr>
        <p:spPr>
          <a:xfrm>
            <a:off x="1154818" y="2020850"/>
            <a:ext cx="2988093" cy="779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User </a:t>
            </a:r>
            <a:r>
              <a:rPr lang="it-IT" dirty="0" err="1">
                <a:ea typeface="Calibri"/>
                <a:cs typeface="Calibri"/>
              </a:rPr>
              <a:t>Profile</a:t>
            </a:r>
            <a:r>
              <a:rPr lang="it-IT" dirty="0">
                <a:ea typeface="Calibri"/>
                <a:cs typeface="Calibri"/>
              </a:rPr>
              <a:t> </a:t>
            </a:r>
            <a:r>
              <a:rPr lang="it-IT" dirty="0" err="1">
                <a:ea typeface="Calibri"/>
                <a:cs typeface="Calibri"/>
              </a:rPr>
              <a:t>vector</a:t>
            </a:r>
            <a:endParaRPr lang="it-IT" dirty="0" err="1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083FC28-16EA-468D-E088-5EF75B5A09CC}"/>
              </a:ext>
            </a:extLst>
          </p:cNvPr>
          <p:cNvSpPr/>
          <p:nvPr/>
        </p:nvSpPr>
        <p:spPr>
          <a:xfrm>
            <a:off x="1951659" y="4298482"/>
            <a:ext cx="1400217" cy="2064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ea typeface="Calibri"/>
                <a:cs typeface="Calibri"/>
              </a:rPr>
              <a:t>Course</a:t>
            </a:r>
          </a:p>
          <a:p>
            <a:pPr algn="ctr"/>
            <a:r>
              <a:rPr lang="it-IT" dirty="0" err="1">
                <a:ea typeface="Calibri"/>
                <a:cs typeface="Calibri"/>
              </a:rPr>
              <a:t>Genre</a:t>
            </a:r>
          </a:p>
          <a:p>
            <a:pPr algn="ctr"/>
            <a:r>
              <a:rPr lang="it-IT" dirty="0" err="1">
                <a:ea typeface="Calibri"/>
                <a:cs typeface="Calibri"/>
              </a:rPr>
              <a:t>vector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2112814-5CF1-B1AF-37AF-5146472D8910}"/>
              </a:ext>
            </a:extLst>
          </p:cNvPr>
          <p:cNvSpPr/>
          <p:nvPr/>
        </p:nvSpPr>
        <p:spPr>
          <a:xfrm>
            <a:off x="1839068" y="3320103"/>
            <a:ext cx="1616746" cy="5052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ea typeface="Calibri"/>
                <a:cs typeface="Calibri"/>
              </a:rPr>
              <a:t>Dot Product</a:t>
            </a:r>
            <a:endParaRPr lang="it-IT"/>
          </a:p>
        </p:txBody>
      </p:sp>
      <p:sp>
        <p:nvSpPr>
          <p:cNvPr id="18" name="Freccia in giù 17">
            <a:extLst>
              <a:ext uri="{FF2B5EF4-FFF2-40B4-BE49-F238E27FC236}">
                <a16:creationId xmlns:a16="http://schemas.microsoft.com/office/drawing/2014/main" id="{7B01CA11-0790-3A6B-F432-AF6010AF6566}"/>
              </a:ext>
            </a:extLst>
          </p:cNvPr>
          <p:cNvSpPr/>
          <p:nvPr/>
        </p:nvSpPr>
        <p:spPr>
          <a:xfrm flipH="1">
            <a:off x="2295279" y="2811996"/>
            <a:ext cx="689842" cy="5167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in giù 18">
            <a:extLst>
              <a:ext uri="{FF2B5EF4-FFF2-40B4-BE49-F238E27FC236}">
                <a16:creationId xmlns:a16="http://schemas.microsoft.com/office/drawing/2014/main" id="{DB71B030-4F64-084E-55C1-527B05F9E2FA}"/>
              </a:ext>
            </a:extLst>
          </p:cNvPr>
          <p:cNvSpPr/>
          <p:nvPr/>
        </p:nvSpPr>
        <p:spPr>
          <a:xfrm flipH="1" flipV="1">
            <a:off x="2295279" y="3828032"/>
            <a:ext cx="744519" cy="4877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3597CB45-B074-BBF4-72F8-16617DE23C64}"/>
              </a:ext>
            </a:extLst>
          </p:cNvPr>
          <p:cNvSpPr/>
          <p:nvPr/>
        </p:nvSpPr>
        <p:spPr>
          <a:xfrm>
            <a:off x="3458022" y="3438274"/>
            <a:ext cx="787916" cy="2684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28CA4F42-16BA-7DE1-D262-702AADB88619}"/>
              </a:ext>
            </a:extLst>
          </p:cNvPr>
          <p:cNvSpPr/>
          <p:nvPr/>
        </p:nvSpPr>
        <p:spPr>
          <a:xfrm>
            <a:off x="4238406" y="3069663"/>
            <a:ext cx="1123727" cy="99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User </a:t>
            </a:r>
            <a:r>
              <a:rPr lang="it-IT" dirty="0" err="1">
                <a:ea typeface="Calibri"/>
                <a:cs typeface="Calibri"/>
              </a:rPr>
              <a:t>Profile</a:t>
            </a:r>
            <a:endParaRPr lang="it-IT" dirty="0" err="1"/>
          </a:p>
        </p:txBody>
      </p:sp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265A5224-0B72-8D86-E104-8B87F2CD5600}"/>
              </a:ext>
            </a:extLst>
          </p:cNvPr>
          <p:cNvSpPr/>
          <p:nvPr/>
        </p:nvSpPr>
        <p:spPr>
          <a:xfrm>
            <a:off x="5363022" y="3449819"/>
            <a:ext cx="695553" cy="2453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4B4BCF6-99B9-FF64-8E10-2276C7327B4C}"/>
              </a:ext>
            </a:extLst>
          </p:cNvPr>
          <p:cNvSpPr/>
          <p:nvPr/>
        </p:nvSpPr>
        <p:spPr>
          <a:xfrm>
            <a:off x="6070571" y="3297896"/>
            <a:ext cx="1380230" cy="537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 err="1">
                <a:ea typeface="Calibri"/>
                <a:cs typeface="Calibri"/>
              </a:rPr>
              <a:t>Threshold</a:t>
            </a:r>
            <a:endParaRPr lang="it-IT">
              <a:ea typeface="Calibri"/>
              <a:cs typeface="Calibri"/>
            </a:endParaRPr>
          </a:p>
          <a:p>
            <a:pPr algn="ctr"/>
            <a:r>
              <a:rPr lang="it-IT">
                <a:ea typeface="Calibri"/>
                <a:cs typeface="Calibri"/>
              </a:rPr>
              <a:t>Check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24" name="Freccia a destra 23">
            <a:extLst>
              <a:ext uri="{FF2B5EF4-FFF2-40B4-BE49-F238E27FC236}">
                <a16:creationId xmlns:a16="http://schemas.microsoft.com/office/drawing/2014/main" id="{E8EB9442-1B25-5234-4B78-7DD845EF7DCD}"/>
              </a:ext>
            </a:extLst>
          </p:cNvPr>
          <p:cNvSpPr/>
          <p:nvPr/>
        </p:nvSpPr>
        <p:spPr>
          <a:xfrm>
            <a:off x="7441203" y="3426728"/>
            <a:ext cx="695553" cy="2453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9C02FBF4-A0CF-5817-FD33-C725E4F8C9F3}"/>
              </a:ext>
            </a:extLst>
          </p:cNvPr>
          <p:cNvSpPr/>
          <p:nvPr/>
        </p:nvSpPr>
        <p:spPr>
          <a:xfrm>
            <a:off x="8128272" y="2563486"/>
            <a:ext cx="2988093" cy="2765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 err="1">
                <a:ea typeface="Calibri"/>
                <a:cs typeface="Calibri"/>
              </a:rPr>
              <a:t>Recommendation</a:t>
            </a:r>
            <a:r>
              <a:rPr lang="it-IT" dirty="0">
                <a:ea typeface="Calibri"/>
                <a:cs typeface="Calibri"/>
              </a:rPr>
              <a:t> Matrix</a:t>
            </a:r>
            <a:endParaRPr lang="it-IT" dirty="0" err="1"/>
          </a:p>
          <a:p>
            <a:pPr algn="ctr"/>
            <a:r>
              <a:rPr lang="it-IT">
                <a:ea typeface="Calibri"/>
                <a:cs typeface="Calibri"/>
              </a:rPr>
              <a:t>-</a:t>
            </a:r>
            <a:endParaRPr lang="it-IT" dirty="0">
              <a:ea typeface="Calibri"/>
              <a:cs typeface="Calibri"/>
            </a:endParaRPr>
          </a:p>
          <a:p>
            <a:pPr algn="ctr"/>
            <a:r>
              <a:rPr lang="it-IT" dirty="0">
                <a:ea typeface="Calibri"/>
                <a:cs typeface="Calibri"/>
              </a:rPr>
              <a:t>Courses </a:t>
            </a:r>
            <a:r>
              <a:rPr lang="it-IT" dirty="0" err="1">
                <a:ea typeface="Calibri"/>
                <a:cs typeface="Calibri"/>
              </a:rPr>
              <a:t>unknown</a:t>
            </a:r>
            <a:r>
              <a:rPr lang="it-IT" dirty="0">
                <a:ea typeface="Calibri"/>
                <a:cs typeface="Calibri"/>
              </a:rPr>
              <a:t> by user</a:t>
            </a:r>
            <a:endParaRPr lang="it-IT"/>
          </a:p>
          <a:p>
            <a:pPr algn="ctr"/>
            <a:r>
              <a:rPr lang="it-IT" dirty="0" err="1">
                <a:ea typeface="Calibri"/>
                <a:cs typeface="Calibri"/>
              </a:rPr>
              <a:t>shown</a:t>
            </a:r>
            <a:r>
              <a:rPr lang="it-IT" dirty="0">
                <a:ea typeface="Calibri"/>
                <a:cs typeface="Calibri"/>
              </a:rPr>
              <a:t> </a:t>
            </a:r>
            <a:r>
              <a:rPr lang="it-IT" dirty="0" err="1">
                <a:ea typeface="Calibri"/>
                <a:cs typeface="Calibri"/>
              </a:rPr>
              <a:t>as</a:t>
            </a:r>
            <a:endParaRPr lang="it-IT" dirty="0">
              <a:ea typeface="Calibri"/>
              <a:cs typeface="Calibri"/>
            </a:endParaRPr>
          </a:p>
          <a:p>
            <a:pPr algn="ctr"/>
            <a:r>
              <a:rPr lang="it-IT" dirty="0" err="1">
                <a:ea typeface="Calibri"/>
                <a:cs typeface="Calibri"/>
              </a:rPr>
              <a:t>Recommended</a:t>
            </a:r>
            <a:r>
              <a:rPr lang="it-IT" dirty="0">
                <a:ea typeface="Calibri"/>
                <a:cs typeface="Calibri"/>
              </a:rPr>
              <a:t> or</a:t>
            </a:r>
          </a:p>
          <a:p>
            <a:pPr algn="ctr"/>
            <a:r>
              <a:rPr lang="it-IT" dirty="0">
                <a:ea typeface="Calibri"/>
                <a:cs typeface="Calibri"/>
              </a:rPr>
              <a:t>Not </a:t>
            </a:r>
            <a:r>
              <a:rPr lang="it-IT" dirty="0" err="1">
                <a:ea typeface="Calibri"/>
                <a:cs typeface="Calibri"/>
              </a:rPr>
              <a:t>Recommended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E02C0F05-0A34-0B39-E936-9EC40FD59401}"/>
              </a:ext>
            </a:extLst>
          </p:cNvPr>
          <p:cNvSpPr/>
          <p:nvPr/>
        </p:nvSpPr>
        <p:spPr>
          <a:xfrm>
            <a:off x="8134809" y="1575661"/>
            <a:ext cx="2943677" cy="8183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Courses User </a:t>
            </a:r>
            <a:r>
              <a:rPr lang="it-IT" dirty="0" err="1">
                <a:ea typeface="Calibri"/>
                <a:cs typeface="Calibri"/>
              </a:rPr>
              <a:t>enrolled</a:t>
            </a:r>
            <a:r>
              <a:rPr lang="it-IT" dirty="0">
                <a:ea typeface="Calibri"/>
                <a:cs typeface="Calibri"/>
              </a:rPr>
              <a:t> in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57654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6EB370-3F0F-1B41-BFE3-77AFB99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B49CB"/>
                </a:solidFill>
                <a:latin typeface="Abadi"/>
              </a:rPr>
              <a:t>Evaluation results of user profile-based recommender system</a:t>
            </a:r>
          </a:p>
        </p:txBody>
      </p:sp>
      <p:pic>
        <p:nvPicPr>
          <p:cNvPr id="3" name="Immagine 2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88112D33-EA6C-0032-567A-8AF18FA5D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521" y="1694070"/>
            <a:ext cx="4448175" cy="4419600"/>
          </a:xfrm>
          <a:prstGeom prst="rect">
            <a:avLst/>
          </a:prstGeom>
        </p:spPr>
      </p:pic>
      <p:graphicFrame>
        <p:nvGraphicFramePr>
          <p:cNvPr id="6" name="Grafico 5">
            <a:extLst>
              <a:ext uri="{FF2B5EF4-FFF2-40B4-BE49-F238E27FC236}">
                <a16:creationId xmlns:a16="http://schemas.microsoft.com/office/drawing/2014/main" id="{C3B546B3-D861-244B-A0E9-8C7F540516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0552345"/>
              </p:ext>
            </p:extLst>
          </p:nvPr>
        </p:nvGraphicFramePr>
        <p:xfrm>
          <a:off x="818735" y="1926397"/>
          <a:ext cx="5334000" cy="3957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29C27B6F-BD52-DCB6-7E2F-377515AC48E3}"/>
              </a:ext>
            </a:extLst>
          </p:cNvPr>
          <p:cNvSpPr txBox="1"/>
          <p:nvPr/>
        </p:nvSpPr>
        <p:spPr>
          <a:xfrm>
            <a:off x="6681304" y="1463260"/>
            <a:ext cx="4318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it-IT" sz="2000">
                <a:solidFill>
                  <a:srgbClr val="1C7DDB"/>
                </a:solidFill>
                <a:latin typeface="Abadi"/>
              </a:rPr>
              <a:t>Top-10 recommendations​</a:t>
            </a:r>
          </a:p>
          <a:p>
            <a:pPr algn="l" rtl="0"/>
            <a:r>
              <a:rPr lang="it-IT" sz="2000">
                <a:solidFill>
                  <a:srgbClr val="1C7DDB"/>
                </a:solidFill>
                <a:latin typeface="Abadi"/>
              </a:rPr>
              <a:t>Threshold = 10</a:t>
            </a:r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4823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6EB370-3F0F-1B41-BFE3-77AFB99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B49CB"/>
                </a:solidFill>
                <a:latin typeface="Abadi"/>
              </a:rPr>
              <a:t>Flowchart of content-based recommender system using course similarity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CDB494D-CB0E-B131-1D26-AD80B60113EA}"/>
              </a:ext>
            </a:extLst>
          </p:cNvPr>
          <p:cNvSpPr/>
          <p:nvPr/>
        </p:nvSpPr>
        <p:spPr>
          <a:xfrm>
            <a:off x="492209" y="2020850"/>
            <a:ext cx="2988093" cy="779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err="1">
                <a:ea typeface="Calibri"/>
                <a:cs typeface="Calibri"/>
              </a:rPr>
              <a:t>All</a:t>
            </a:r>
            <a:r>
              <a:rPr lang="it-IT" dirty="0">
                <a:ea typeface="Calibri"/>
                <a:cs typeface="Calibri"/>
              </a:rPr>
              <a:t> </a:t>
            </a:r>
            <a:r>
              <a:rPr lang="it-IT">
                <a:ea typeface="Calibri"/>
                <a:cs typeface="Calibri"/>
              </a:rPr>
              <a:t>Courses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216F3B11-4CBF-B840-5DA5-A36235108EC0}"/>
              </a:ext>
            </a:extLst>
          </p:cNvPr>
          <p:cNvSpPr/>
          <p:nvPr/>
        </p:nvSpPr>
        <p:spPr>
          <a:xfrm>
            <a:off x="1342111" y="3331146"/>
            <a:ext cx="1274399" cy="5052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 err="1">
                <a:ea typeface="Calibri"/>
                <a:cs typeface="Calibri"/>
              </a:rPr>
              <a:t>Difference</a:t>
            </a:r>
            <a:endParaRPr lang="it-IT" dirty="0" err="1"/>
          </a:p>
        </p:txBody>
      </p:sp>
      <p:sp>
        <p:nvSpPr>
          <p:cNvPr id="20" name="Freccia in giù 19">
            <a:extLst>
              <a:ext uri="{FF2B5EF4-FFF2-40B4-BE49-F238E27FC236}">
                <a16:creationId xmlns:a16="http://schemas.microsoft.com/office/drawing/2014/main" id="{6D58BF97-D930-0806-A67F-478D9D02C13F}"/>
              </a:ext>
            </a:extLst>
          </p:cNvPr>
          <p:cNvSpPr/>
          <p:nvPr/>
        </p:nvSpPr>
        <p:spPr>
          <a:xfrm flipH="1">
            <a:off x="1632670" y="2811996"/>
            <a:ext cx="689842" cy="5167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Freccia in giù 21">
            <a:extLst>
              <a:ext uri="{FF2B5EF4-FFF2-40B4-BE49-F238E27FC236}">
                <a16:creationId xmlns:a16="http://schemas.microsoft.com/office/drawing/2014/main" id="{C3A0E0A1-A717-4825-4713-9E9BFBBFA63E}"/>
              </a:ext>
            </a:extLst>
          </p:cNvPr>
          <p:cNvSpPr/>
          <p:nvPr/>
        </p:nvSpPr>
        <p:spPr>
          <a:xfrm flipH="1" flipV="1">
            <a:off x="1632670" y="3813654"/>
            <a:ext cx="701387" cy="4877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Freccia a destra 23">
            <a:extLst>
              <a:ext uri="{FF2B5EF4-FFF2-40B4-BE49-F238E27FC236}">
                <a16:creationId xmlns:a16="http://schemas.microsoft.com/office/drawing/2014/main" id="{0C72522D-4AF6-6B7A-378D-92EABE01CF9B}"/>
              </a:ext>
            </a:extLst>
          </p:cNvPr>
          <p:cNvSpPr/>
          <p:nvPr/>
        </p:nvSpPr>
        <p:spPr>
          <a:xfrm>
            <a:off x="4606544" y="3427231"/>
            <a:ext cx="368264" cy="2684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29ECFD31-8932-DD37-5225-AC8BD96C075D}"/>
              </a:ext>
            </a:extLst>
          </p:cNvPr>
          <p:cNvSpPr/>
          <p:nvPr/>
        </p:nvSpPr>
        <p:spPr>
          <a:xfrm>
            <a:off x="4967276" y="3080706"/>
            <a:ext cx="1123727" cy="99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Course </a:t>
            </a:r>
            <a:r>
              <a:rPr lang="it-IT" dirty="0" err="1">
                <a:ea typeface="Calibri"/>
                <a:cs typeface="Calibri"/>
              </a:rPr>
              <a:t>Similarity</a:t>
            </a:r>
            <a:r>
              <a:rPr lang="it-IT" dirty="0">
                <a:ea typeface="Calibri"/>
                <a:cs typeface="Calibri"/>
              </a:rPr>
              <a:t> Matrix</a:t>
            </a:r>
            <a:endParaRPr lang="it-IT" dirty="0"/>
          </a:p>
        </p:txBody>
      </p:sp>
      <p:sp>
        <p:nvSpPr>
          <p:cNvPr id="28" name="Freccia a destra 27">
            <a:extLst>
              <a:ext uri="{FF2B5EF4-FFF2-40B4-BE49-F238E27FC236}">
                <a16:creationId xmlns:a16="http://schemas.microsoft.com/office/drawing/2014/main" id="{85B802E5-9738-4649-44EC-10BFFA1C022B}"/>
              </a:ext>
            </a:extLst>
          </p:cNvPr>
          <p:cNvSpPr/>
          <p:nvPr/>
        </p:nvSpPr>
        <p:spPr>
          <a:xfrm>
            <a:off x="6091891" y="3438776"/>
            <a:ext cx="353206" cy="2563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54CC0E81-B14D-C999-E049-E35F60952EBC}"/>
              </a:ext>
            </a:extLst>
          </p:cNvPr>
          <p:cNvSpPr/>
          <p:nvPr/>
        </p:nvSpPr>
        <p:spPr>
          <a:xfrm>
            <a:off x="6446049" y="3264766"/>
            <a:ext cx="1380230" cy="5595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 err="1">
                <a:ea typeface="Calibri"/>
                <a:cs typeface="Calibri"/>
              </a:rPr>
              <a:t>Threshold</a:t>
            </a:r>
            <a:endParaRPr lang="it-IT">
              <a:ea typeface="Calibri"/>
              <a:cs typeface="Calibri"/>
            </a:endParaRPr>
          </a:p>
          <a:p>
            <a:pPr algn="ctr"/>
            <a:r>
              <a:rPr lang="it-IT">
                <a:ea typeface="Calibri"/>
                <a:cs typeface="Calibri"/>
              </a:rPr>
              <a:t>Check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32" name="Freccia a destra 31">
            <a:extLst>
              <a:ext uri="{FF2B5EF4-FFF2-40B4-BE49-F238E27FC236}">
                <a16:creationId xmlns:a16="http://schemas.microsoft.com/office/drawing/2014/main" id="{083EEF92-604C-1D7D-6183-EF20B7680FAD}"/>
              </a:ext>
            </a:extLst>
          </p:cNvPr>
          <p:cNvSpPr/>
          <p:nvPr/>
        </p:nvSpPr>
        <p:spPr>
          <a:xfrm>
            <a:off x="7827724" y="3437771"/>
            <a:ext cx="297989" cy="2563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1242118C-4DF7-3887-24F3-D55BA3C5216D}"/>
              </a:ext>
            </a:extLst>
          </p:cNvPr>
          <p:cNvSpPr/>
          <p:nvPr/>
        </p:nvSpPr>
        <p:spPr>
          <a:xfrm>
            <a:off x="8128272" y="2188008"/>
            <a:ext cx="2988093" cy="2765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 err="1">
                <a:ea typeface="Calibri"/>
                <a:cs typeface="Calibri"/>
              </a:rPr>
              <a:t>Recommendation</a:t>
            </a:r>
            <a:r>
              <a:rPr lang="it-IT" dirty="0">
                <a:ea typeface="Calibri"/>
                <a:cs typeface="Calibri"/>
              </a:rPr>
              <a:t> Matrix</a:t>
            </a:r>
            <a:endParaRPr lang="it-IT" dirty="0" err="1"/>
          </a:p>
          <a:p>
            <a:pPr algn="ctr"/>
            <a:r>
              <a:rPr lang="it-IT">
                <a:ea typeface="Calibri"/>
                <a:cs typeface="Calibri"/>
              </a:rPr>
              <a:t>-</a:t>
            </a:r>
            <a:endParaRPr lang="it-IT" dirty="0">
              <a:ea typeface="Calibri"/>
              <a:cs typeface="Calibri"/>
            </a:endParaRPr>
          </a:p>
          <a:p>
            <a:pPr algn="ctr"/>
            <a:r>
              <a:rPr lang="it-IT" dirty="0">
                <a:ea typeface="Calibri"/>
                <a:cs typeface="Calibri"/>
              </a:rPr>
              <a:t>Courses </a:t>
            </a:r>
            <a:r>
              <a:rPr lang="it-IT" dirty="0" err="1">
                <a:ea typeface="Calibri"/>
                <a:cs typeface="Calibri"/>
              </a:rPr>
              <a:t>unknown</a:t>
            </a:r>
            <a:r>
              <a:rPr lang="it-IT" dirty="0">
                <a:ea typeface="Calibri"/>
                <a:cs typeface="Calibri"/>
              </a:rPr>
              <a:t> by user</a:t>
            </a:r>
            <a:endParaRPr lang="it-IT"/>
          </a:p>
          <a:p>
            <a:pPr algn="ctr"/>
            <a:r>
              <a:rPr lang="it-IT" dirty="0" err="1">
                <a:ea typeface="Calibri"/>
                <a:cs typeface="Calibri"/>
              </a:rPr>
              <a:t>shown</a:t>
            </a:r>
            <a:r>
              <a:rPr lang="it-IT" dirty="0">
                <a:ea typeface="Calibri"/>
                <a:cs typeface="Calibri"/>
              </a:rPr>
              <a:t> </a:t>
            </a:r>
            <a:r>
              <a:rPr lang="it-IT" dirty="0" err="1">
                <a:ea typeface="Calibri"/>
                <a:cs typeface="Calibri"/>
              </a:rPr>
              <a:t>as</a:t>
            </a:r>
            <a:endParaRPr lang="it-IT" dirty="0">
              <a:ea typeface="Calibri"/>
              <a:cs typeface="Calibri"/>
            </a:endParaRPr>
          </a:p>
          <a:p>
            <a:pPr algn="ctr"/>
            <a:r>
              <a:rPr lang="it-IT" dirty="0" err="1">
                <a:ea typeface="Calibri"/>
                <a:cs typeface="Calibri"/>
              </a:rPr>
              <a:t>Recommended</a:t>
            </a:r>
            <a:r>
              <a:rPr lang="it-IT" dirty="0">
                <a:ea typeface="Calibri"/>
                <a:cs typeface="Calibri"/>
              </a:rPr>
              <a:t> or</a:t>
            </a:r>
          </a:p>
          <a:p>
            <a:pPr algn="ctr"/>
            <a:r>
              <a:rPr lang="it-IT" dirty="0">
                <a:ea typeface="Calibri"/>
                <a:cs typeface="Calibri"/>
              </a:rPr>
              <a:t>Not </a:t>
            </a:r>
            <a:r>
              <a:rPr lang="it-IT" dirty="0" err="1">
                <a:ea typeface="Calibri"/>
                <a:cs typeface="Calibri"/>
              </a:rPr>
              <a:t>Recommended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C4DE77EF-1280-B8FF-43DC-753081B9D574}"/>
              </a:ext>
            </a:extLst>
          </p:cNvPr>
          <p:cNvSpPr/>
          <p:nvPr/>
        </p:nvSpPr>
        <p:spPr>
          <a:xfrm>
            <a:off x="514809" y="4303400"/>
            <a:ext cx="2943677" cy="8183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Courses User </a:t>
            </a:r>
            <a:r>
              <a:rPr lang="it-IT" dirty="0" err="1">
                <a:ea typeface="Calibri"/>
                <a:cs typeface="Calibri"/>
              </a:rPr>
              <a:t>enrolled</a:t>
            </a:r>
            <a:r>
              <a:rPr lang="it-IT" dirty="0">
                <a:ea typeface="Calibri"/>
                <a:cs typeface="Calibri"/>
              </a:rPr>
              <a:t> in</a:t>
            </a:r>
            <a:endParaRPr lang="it-IT" dirty="0"/>
          </a:p>
        </p:txBody>
      </p:sp>
      <p:sp>
        <p:nvSpPr>
          <p:cNvPr id="39" name="Freccia a destra 38">
            <a:extLst>
              <a:ext uri="{FF2B5EF4-FFF2-40B4-BE49-F238E27FC236}">
                <a16:creationId xmlns:a16="http://schemas.microsoft.com/office/drawing/2014/main" id="{C890FDE3-9288-62E0-2805-3FFB7A86D771}"/>
              </a:ext>
            </a:extLst>
          </p:cNvPr>
          <p:cNvSpPr/>
          <p:nvPr/>
        </p:nvSpPr>
        <p:spPr>
          <a:xfrm>
            <a:off x="2607674" y="3438274"/>
            <a:ext cx="368264" cy="2684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2FA1141E-A837-E1CD-28B9-23CF941ACD6A}"/>
              </a:ext>
            </a:extLst>
          </p:cNvPr>
          <p:cNvSpPr/>
          <p:nvPr/>
        </p:nvSpPr>
        <p:spPr>
          <a:xfrm>
            <a:off x="2968406" y="3069663"/>
            <a:ext cx="1620683" cy="99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Courses </a:t>
            </a:r>
            <a:r>
              <a:rPr lang="it-IT" dirty="0" err="1">
                <a:ea typeface="Calibri"/>
                <a:cs typeface="Calibri"/>
              </a:rPr>
              <a:t>Unknown</a:t>
            </a:r>
            <a:endParaRPr lang="it-IT" dirty="0" err="1"/>
          </a:p>
          <a:p>
            <a:pPr algn="ctr"/>
            <a:r>
              <a:rPr lang="it-IT">
                <a:ea typeface="Calibri"/>
                <a:cs typeface="Calibri"/>
              </a:rPr>
              <a:t>by User</a:t>
            </a:r>
            <a:endParaRPr lang="it-IT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3156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7083CB0C-8685-1838-B5DB-8AA724672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203" y="2056502"/>
            <a:ext cx="5286375" cy="404812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26EB370-3F0F-1B41-BFE3-77AFB99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4000" dirty="0">
                <a:solidFill>
                  <a:srgbClr val="0B49CB"/>
                </a:solidFill>
                <a:latin typeface="Abadi"/>
              </a:rPr>
              <a:t>Evaluation results of course </a:t>
            </a:r>
            <a:r>
              <a:rPr lang="en-US" sz="4000">
                <a:solidFill>
                  <a:srgbClr val="0B49CB"/>
                </a:solidFill>
                <a:latin typeface="Abadi"/>
              </a:rPr>
              <a:t>similarity-based</a:t>
            </a:r>
            <a:r>
              <a:rPr lang="en-US" sz="4000" dirty="0">
                <a:solidFill>
                  <a:srgbClr val="0B49CB"/>
                </a:solidFill>
                <a:latin typeface="Abadi"/>
              </a:rPr>
              <a:t> recommender system</a:t>
            </a:r>
          </a:p>
        </p:txBody>
      </p:sp>
      <p:graphicFrame>
        <p:nvGraphicFramePr>
          <p:cNvPr id="3" name="Grafico 2">
            <a:extLst>
              <a:ext uri="{FF2B5EF4-FFF2-40B4-BE49-F238E27FC236}">
                <a16:creationId xmlns:a16="http://schemas.microsoft.com/office/drawing/2014/main" id="{1BB4082B-5241-6CA6-21C8-646059C59617}"/>
              </a:ext>
              <a:ext uri="{147F2762-F138-4A5C-976F-8EAC2B608ADB}">
                <a16:predDERef xmlns:a16="http://schemas.microsoft.com/office/drawing/2014/main" pred="{C3B546B3-D861-244B-A0E9-8C7F540516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6497542"/>
              </p:ext>
            </p:extLst>
          </p:nvPr>
        </p:nvGraphicFramePr>
        <p:xfrm>
          <a:off x="443258" y="2103093"/>
          <a:ext cx="5389217" cy="4035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BAD546D1-2B45-BDDE-53C5-EA77CCEE910D}"/>
              </a:ext>
            </a:extLst>
          </p:cNvPr>
          <p:cNvSpPr txBox="1"/>
          <p:nvPr/>
        </p:nvSpPr>
        <p:spPr>
          <a:xfrm>
            <a:off x="6681304" y="1573695"/>
            <a:ext cx="4318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it-IT" sz="2000" dirty="0">
                <a:solidFill>
                  <a:srgbClr val="1C7DDB"/>
                </a:solidFill>
                <a:latin typeface="Abadi"/>
              </a:rPr>
              <a:t>Top-10 </a:t>
            </a:r>
            <a:r>
              <a:rPr lang="it-IT" sz="2000" dirty="0" err="1">
                <a:solidFill>
                  <a:srgbClr val="1C7DDB"/>
                </a:solidFill>
                <a:latin typeface="Abadi"/>
              </a:rPr>
              <a:t>recommendations</a:t>
            </a:r>
            <a:r>
              <a:rPr lang="it-IT" sz="2000" dirty="0">
                <a:solidFill>
                  <a:srgbClr val="1C7DDB"/>
                </a:solidFill>
                <a:latin typeface="Abadi"/>
              </a:rPr>
              <a:t>​</a:t>
            </a:r>
          </a:p>
          <a:p>
            <a:pPr algn="l" rtl="0"/>
            <a:r>
              <a:rPr lang="it-IT" sz="2000" dirty="0" err="1">
                <a:solidFill>
                  <a:srgbClr val="1C7DDB"/>
                </a:solidFill>
                <a:latin typeface="Abadi"/>
              </a:rPr>
              <a:t>Threshold</a:t>
            </a:r>
            <a:r>
              <a:rPr lang="it-IT" sz="2000" dirty="0">
                <a:solidFill>
                  <a:srgbClr val="1C7DDB"/>
                </a:solidFill>
                <a:latin typeface="Abadi"/>
              </a:rPr>
              <a:t> = 0.5</a:t>
            </a:r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6389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6EB370-3F0F-1B41-BFE3-77AFB99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B49CB"/>
                </a:solidFill>
                <a:latin typeface="Abadi"/>
              </a:rPr>
              <a:t>Flowchart of clustering-based recommender system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84F11A1F-915B-FF5C-55DE-522B3CA1A763}"/>
              </a:ext>
            </a:extLst>
          </p:cNvPr>
          <p:cNvSpPr/>
          <p:nvPr/>
        </p:nvSpPr>
        <p:spPr>
          <a:xfrm>
            <a:off x="508197" y="1979147"/>
            <a:ext cx="2219148" cy="10613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User </a:t>
            </a:r>
            <a:r>
              <a:rPr lang="it-IT" dirty="0" err="1">
                <a:ea typeface="Calibri"/>
                <a:cs typeface="Calibri"/>
              </a:rPr>
              <a:t>Profile</a:t>
            </a:r>
            <a:r>
              <a:rPr lang="it-IT" dirty="0">
                <a:ea typeface="Calibri"/>
                <a:cs typeface="Calibri"/>
              </a:rPr>
              <a:t> Matrix</a:t>
            </a:r>
            <a:endParaRPr lang="it-IT" dirty="0" err="1"/>
          </a:p>
        </p:txBody>
      </p:sp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D2ABB7D7-F9DA-0931-20CA-27E224624B70}"/>
              </a:ext>
            </a:extLst>
          </p:cNvPr>
          <p:cNvSpPr/>
          <p:nvPr/>
        </p:nvSpPr>
        <p:spPr>
          <a:xfrm>
            <a:off x="2732867" y="2328004"/>
            <a:ext cx="492815" cy="3673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2A1F9FDF-9E43-FAFA-FE6E-200AA5989698}"/>
              </a:ext>
            </a:extLst>
          </p:cNvPr>
          <p:cNvSpPr/>
          <p:nvPr/>
        </p:nvSpPr>
        <p:spPr>
          <a:xfrm>
            <a:off x="3230809" y="1981712"/>
            <a:ext cx="1485151" cy="1058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ea typeface="Calibri"/>
                <a:cs typeface="Calibri"/>
              </a:rPr>
              <a:t>Scaler</a:t>
            </a:r>
            <a:endParaRPr lang="it-IT" dirty="0" err="1"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F8D38306-23D7-4881-4786-04F15BE8E5F2}"/>
              </a:ext>
            </a:extLst>
          </p:cNvPr>
          <p:cNvSpPr/>
          <p:nvPr/>
        </p:nvSpPr>
        <p:spPr>
          <a:xfrm>
            <a:off x="4709649" y="2328004"/>
            <a:ext cx="548032" cy="3673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6EA0999F-6DC2-7F65-C944-F1EE50453757}"/>
              </a:ext>
            </a:extLst>
          </p:cNvPr>
          <p:cNvSpPr/>
          <p:nvPr/>
        </p:nvSpPr>
        <p:spPr>
          <a:xfrm>
            <a:off x="5262809" y="1981712"/>
            <a:ext cx="1937933" cy="1058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 err="1">
                <a:ea typeface="Calibri"/>
                <a:cs typeface="Calibri"/>
              </a:rPr>
              <a:t>Identify</a:t>
            </a:r>
            <a:r>
              <a:rPr lang="it-IT" dirty="0">
                <a:ea typeface="Calibri"/>
                <a:cs typeface="Calibri"/>
              </a:rPr>
              <a:t> #clusters</a:t>
            </a:r>
          </a:p>
          <a:p>
            <a:pPr algn="ctr"/>
            <a:r>
              <a:rPr lang="it-IT" dirty="0">
                <a:ea typeface="Calibri"/>
                <a:cs typeface="Calibri"/>
              </a:rPr>
              <a:t>(e.g. Elbow </a:t>
            </a:r>
            <a:r>
              <a:rPr lang="it-IT" dirty="0" err="1">
                <a:ea typeface="Calibri"/>
                <a:cs typeface="Calibri"/>
              </a:rPr>
              <a:t>method</a:t>
            </a:r>
            <a:r>
              <a:rPr lang="it-IT" dirty="0">
                <a:ea typeface="Calibri"/>
                <a:cs typeface="Calibri"/>
              </a:rPr>
              <a:t>)</a:t>
            </a:r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699FD5DA-9D79-8082-16F0-65053ED5DA49}"/>
              </a:ext>
            </a:extLst>
          </p:cNvPr>
          <p:cNvSpPr/>
          <p:nvPr/>
        </p:nvSpPr>
        <p:spPr>
          <a:xfrm>
            <a:off x="7205474" y="2328004"/>
            <a:ext cx="548032" cy="3673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D843B9B3-512D-F185-1288-76DE6E7DD970}"/>
              </a:ext>
            </a:extLst>
          </p:cNvPr>
          <p:cNvSpPr/>
          <p:nvPr/>
        </p:nvSpPr>
        <p:spPr>
          <a:xfrm>
            <a:off x="7758635" y="1981712"/>
            <a:ext cx="1253238" cy="1058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 err="1">
                <a:ea typeface="Calibri"/>
                <a:cs typeface="Calibri"/>
              </a:rPr>
              <a:t>Apply</a:t>
            </a:r>
            <a:r>
              <a:rPr lang="it-IT" dirty="0">
                <a:ea typeface="Calibri"/>
                <a:cs typeface="Calibri"/>
              </a:rPr>
              <a:t> Clustering</a:t>
            </a:r>
            <a:endParaRPr lang="it-IT" dirty="0"/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AE71D25D-6765-EDFD-61B8-C1436903DFA2}"/>
              </a:ext>
            </a:extLst>
          </p:cNvPr>
          <p:cNvSpPr/>
          <p:nvPr/>
        </p:nvSpPr>
        <p:spPr>
          <a:xfrm>
            <a:off x="9016604" y="2328004"/>
            <a:ext cx="548032" cy="3673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D034373-8CA8-1777-8938-35B0D1B18297}"/>
              </a:ext>
            </a:extLst>
          </p:cNvPr>
          <p:cNvSpPr/>
          <p:nvPr/>
        </p:nvSpPr>
        <p:spPr>
          <a:xfrm>
            <a:off x="9563849" y="1979147"/>
            <a:ext cx="2219148" cy="10613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Users </a:t>
            </a:r>
            <a:r>
              <a:rPr lang="it-IT" dirty="0" err="1">
                <a:ea typeface="Calibri"/>
                <a:cs typeface="Calibri"/>
              </a:rPr>
              <a:t>assigned</a:t>
            </a:r>
            <a:r>
              <a:rPr lang="it-IT" dirty="0">
                <a:ea typeface="Calibri"/>
                <a:cs typeface="Calibri"/>
              </a:rPr>
              <a:t> to Clusters</a:t>
            </a:r>
          </a:p>
        </p:txBody>
      </p:sp>
      <p:sp>
        <p:nvSpPr>
          <p:cNvPr id="15" name="Freccia in giù 14">
            <a:extLst>
              <a:ext uri="{FF2B5EF4-FFF2-40B4-BE49-F238E27FC236}">
                <a16:creationId xmlns:a16="http://schemas.microsoft.com/office/drawing/2014/main" id="{7571C9A7-5094-C968-EC90-57408BDD0832}"/>
              </a:ext>
            </a:extLst>
          </p:cNvPr>
          <p:cNvSpPr/>
          <p:nvPr/>
        </p:nvSpPr>
        <p:spPr>
          <a:xfrm>
            <a:off x="10491304" y="3045436"/>
            <a:ext cx="353785" cy="6667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19853D4-0471-561D-5A23-46A3B9EE8467}"/>
              </a:ext>
            </a:extLst>
          </p:cNvPr>
          <p:cNvSpPr/>
          <p:nvPr/>
        </p:nvSpPr>
        <p:spPr>
          <a:xfrm>
            <a:off x="9757505" y="3704494"/>
            <a:ext cx="1838540" cy="1058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 err="1">
                <a:ea typeface="Calibri"/>
                <a:cs typeface="Calibri"/>
              </a:rPr>
              <a:t>Find</a:t>
            </a:r>
            <a:r>
              <a:rPr lang="it-IT" dirty="0">
                <a:ea typeface="Calibri"/>
                <a:cs typeface="Calibri"/>
              </a:rPr>
              <a:t> top items</a:t>
            </a:r>
          </a:p>
          <a:p>
            <a:pPr algn="ctr"/>
            <a:r>
              <a:rPr lang="it-IT" dirty="0">
                <a:ea typeface="Calibri"/>
                <a:cs typeface="Calibri"/>
              </a:rPr>
              <a:t>from target </a:t>
            </a:r>
            <a:r>
              <a:rPr lang="it-IT" dirty="0" err="1">
                <a:ea typeface="Calibri"/>
                <a:cs typeface="Calibri"/>
              </a:rPr>
              <a:t>User's</a:t>
            </a:r>
            <a:r>
              <a:rPr lang="it-IT" dirty="0">
                <a:ea typeface="Calibri"/>
                <a:cs typeface="Calibri"/>
              </a:rPr>
              <a:t> Cluster</a:t>
            </a:r>
          </a:p>
        </p:txBody>
      </p:sp>
      <p:sp>
        <p:nvSpPr>
          <p:cNvPr id="17" name="Freccia in giù 16">
            <a:extLst>
              <a:ext uri="{FF2B5EF4-FFF2-40B4-BE49-F238E27FC236}">
                <a16:creationId xmlns:a16="http://schemas.microsoft.com/office/drawing/2014/main" id="{8344678C-E98B-2D13-FB13-86193898C5E4}"/>
              </a:ext>
            </a:extLst>
          </p:cNvPr>
          <p:cNvSpPr/>
          <p:nvPr/>
        </p:nvSpPr>
        <p:spPr>
          <a:xfrm>
            <a:off x="10491304" y="4768218"/>
            <a:ext cx="353785" cy="4679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B2AC498F-91F1-9247-B325-FD928DF0DD98}"/>
              </a:ext>
            </a:extLst>
          </p:cNvPr>
          <p:cNvSpPr/>
          <p:nvPr/>
        </p:nvSpPr>
        <p:spPr>
          <a:xfrm>
            <a:off x="9552805" y="5236973"/>
            <a:ext cx="2219148" cy="10613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ea typeface="Calibri"/>
                <a:cs typeface="Calibri"/>
              </a:rPr>
              <a:t>Target User</a:t>
            </a:r>
            <a:endParaRPr lang="it-IT"/>
          </a:p>
          <a:p>
            <a:pPr algn="ctr"/>
            <a:r>
              <a:rPr lang="it-IT" dirty="0" err="1">
                <a:ea typeface="Calibri"/>
                <a:cs typeface="Calibri"/>
              </a:rPr>
              <a:t>Recommended</a:t>
            </a:r>
            <a:r>
              <a:rPr lang="it-IT" dirty="0">
                <a:ea typeface="Calibri"/>
                <a:cs typeface="Calibri"/>
              </a:rPr>
              <a:t> </a:t>
            </a:r>
            <a:r>
              <a:rPr lang="it-IT">
                <a:ea typeface="Calibri"/>
                <a:cs typeface="Calibri"/>
              </a:rPr>
              <a:t>Courses</a:t>
            </a:r>
            <a:endParaRPr lang="it-IT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2581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6EB370-3F0F-1B41-BFE3-77AFB99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B49CB"/>
                </a:solidFill>
                <a:latin typeface="Abadi"/>
              </a:rPr>
              <a:t>Evaluation results of clustering-based recommender system</a:t>
            </a:r>
          </a:p>
        </p:txBody>
      </p:sp>
      <p:pic>
        <p:nvPicPr>
          <p:cNvPr id="2" name="Immagine 1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B79E89C6-41C9-664A-0D87-0208365DD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565" y="2083628"/>
            <a:ext cx="2286000" cy="44577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1E153399-3019-C8D0-C241-411EB9EA6369}"/>
              </a:ext>
            </a:extLst>
          </p:cNvPr>
          <p:cNvSpPr txBox="1"/>
          <p:nvPr/>
        </p:nvSpPr>
        <p:spPr>
          <a:xfrm>
            <a:off x="6979478" y="1452217"/>
            <a:ext cx="4318001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2000" dirty="0">
                <a:solidFill>
                  <a:srgbClr val="1C7DDB"/>
                </a:solidFill>
                <a:latin typeface="Abadi"/>
              </a:rPr>
              <a:t>Top-10 </a:t>
            </a:r>
            <a:r>
              <a:rPr lang="it-IT" sz="2000" dirty="0" err="1">
                <a:solidFill>
                  <a:srgbClr val="1C7DDB"/>
                </a:solidFill>
                <a:latin typeface="Abadi"/>
              </a:rPr>
              <a:t>recommendations</a:t>
            </a:r>
            <a:r>
              <a:rPr lang="it-IT" sz="2000" dirty="0">
                <a:solidFill>
                  <a:srgbClr val="1C7DDB"/>
                </a:solidFill>
                <a:latin typeface="Abadi"/>
              </a:rPr>
              <a:t>​</a:t>
            </a:r>
          </a:p>
          <a:p>
            <a:pPr algn="ctr"/>
            <a:r>
              <a:rPr lang="it-IT" sz="2000">
                <a:solidFill>
                  <a:srgbClr val="1C7DDB"/>
                </a:solidFill>
                <a:latin typeface="Abadi"/>
              </a:rPr>
              <a:t>with PCA + K-Means</a:t>
            </a:r>
            <a:endParaRPr lang="it-IT" sz="2000" dirty="0">
              <a:solidFill>
                <a:srgbClr val="1C7DDB"/>
              </a:solidFill>
              <a:latin typeface="Abadi"/>
            </a:endParaRPr>
          </a:p>
          <a:p>
            <a:pPr algn="l" rtl="0"/>
            <a:r>
              <a:rPr lang="it-IT" sz="2000" dirty="0" err="1">
                <a:solidFill>
                  <a:srgbClr val="1C7DDB"/>
                </a:solidFill>
                <a:latin typeface="Abadi"/>
              </a:rPr>
              <a:t>Threshold</a:t>
            </a:r>
            <a:r>
              <a:rPr lang="it-IT" sz="2000" dirty="0">
                <a:solidFill>
                  <a:srgbClr val="1C7DDB"/>
                </a:solidFill>
                <a:latin typeface="Abadi"/>
              </a:rPr>
              <a:t> = 100</a:t>
            </a:r>
          </a:p>
          <a:p>
            <a:pPr algn="ctr"/>
            <a:endParaRPr lang="it-IT"/>
          </a:p>
        </p:txBody>
      </p:sp>
      <p:graphicFrame>
        <p:nvGraphicFramePr>
          <p:cNvPr id="3" name="Grafico 2">
            <a:extLst>
              <a:ext uri="{FF2B5EF4-FFF2-40B4-BE49-F238E27FC236}">
                <a16:creationId xmlns:a16="http://schemas.microsoft.com/office/drawing/2014/main" id="{8A8C528C-D293-9198-61DD-43A68ED5ED6C}"/>
              </a:ext>
              <a:ext uri="{147F2762-F138-4A5C-976F-8EAC2B608ADB}">
                <a16:predDERef xmlns:a16="http://schemas.microsoft.com/office/drawing/2014/main" pred="{1BB4082B-5241-6CA6-21C8-646059C596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6085559"/>
              </p:ext>
            </p:extLst>
          </p:nvPr>
        </p:nvGraphicFramePr>
        <p:xfrm>
          <a:off x="591517" y="1860137"/>
          <a:ext cx="6208091" cy="4454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15997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FF7BC5-E183-2F4D-BC8D-2C69A220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Collaborative-filtering Recommender System using Supervised Learning</a:t>
            </a:r>
            <a:endParaRPr lang="en-US" dirty="0"/>
          </a:p>
        </p:txBody>
      </p:sp>
      <p:pic>
        <p:nvPicPr>
          <p:cNvPr id="43" name="Picture 2" descr="Support-vector machine - Wikipedia">
            <a:extLst>
              <a:ext uri="{FF2B5EF4-FFF2-40B4-BE49-F238E27FC236}">
                <a16:creationId xmlns:a16="http://schemas.microsoft.com/office/drawing/2014/main" id="{CA660427-DE61-394E-804E-5C0107163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071" y="5432400"/>
            <a:ext cx="1470757" cy="14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572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6EB370-3F0F-1B41-BFE3-77AFB99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4000">
                <a:solidFill>
                  <a:srgbClr val="0B49CB"/>
                </a:solidFill>
                <a:latin typeface="Abadi"/>
              </a:rPr>
              <a:t>Flowchart of KNN-based recommender system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BB84000-FF65-C05C-0809-DC46A0107E92}"/>
              </a:ext>
            </a:extLst>
          </p:cNvPr>
          <p:cNvSpPr/>
          <p:nvPr/>
        </p:nvSpPr>
        <p:spPr>
          <a:xfrm>
            <a:off x="3259077" y="1187423"/>
            <a:ext cx="1639150" cy="1052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Active User Course </a:t>
            </a:r>
            <a:r>
              <a:rPr lang="it-IT" dirty="0" err="1">
                <a:ea typeface="Calibri"/>
                <a:cs typeface="Calibri"/>
              </a:rPr>
              <a:t>Enrollments</a:t>
            </a:r>
            <a:endParaRPr lang="it-IT" dirty="0" err="1"/>
          </a:p>
        </p:txBody>
      </p:sp>
      <p:sp>
        <p:nvSpPr>
          <p:cNvPr id="8" name="Freccia angolare in su 7">
            <a:extLst>
              <a:ext uri="{FF2B5EF4-FFF2-40B4-BE49-F238E27FC236}">
                <a16:creationId xmlns:a16="http://schemas.microsoft.com/office/drawing/2014/main" id="{8C7DC4F9-A311-6723-794B-A36AFFB04961}"/>
              </a:ext>
            </a:extLst>
          </p:cNvPr>
          <p:cNvSpPr/>
          <p:nvPr/>
        </p:nvSpPr>
        <p:spPr>
          <a:xfrm rot="10800000">
            <a:off x="945343" y="1489942"/>
            <a:ext cx="2339377" cy="2325461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AD4EDD8D-000F-486C-96C2-D966034E69B6}"/>
              </a:ext>
            </a:extLst>
          </p:cNvPr>
          <p:cNvSpPr/>
          <p:nvPr/>
        </p:nvSpPr>
        <p:spPr>
          <a:xfrm>
            <a:off x="684386" y="3813762"/>
            <a:ext cx="1683967" cy="7760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ea typeface="Calibri"/>
                <a:cs typeface="Calibri"/>
              </a:rPr>
              <a:t>KNN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E906991A-C26F-A498-72D1-61AD16295F87}"/>
              </a:ext>
            </a:extLst>
          </p:cNvPr>
          <p:cNvSpPr/>
          <p:nvPr/>
        </p:nvSpPr>
        <p:spPr>
          <a:xfrm>
            <a:off x="2618555" y="5350813"/>
            <a:ext cx="1639150" cy="1052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 err="1">
                <a:ea typeface="Calibri"/>
                <a:cs typeface="Calibri"/>
              </a:rPr>
              <a:t>All</a:t>
            </a:r>
            <a:r>
              <a:rPr lang="it-IT" dirty="0">
                <a:ea typeface="Calibri"/>
                <a:cs typeface="Calibri"/>
              </a:rPr>
              <a:t> Users</a:t>
            </a:r>
          </a:p>
          <a:p>
            <a:pPr algn="ctr"/>
            <a:r>
              <a:rPr lang="it-IT" dirty="0">
                <a:ea typeface="Calibri"/>
                <a:cs typeface="Calibri"/>
              </a:rPr>
              <a:t>Course </a:t>
            </a:r>
            <a:r>
              <a:rPr lang="it-IT" dirty="0" err="1">
                <a:ea typeface="Calibri"/>
                <a:cs typeface="Calibri"/>
              </a:rPr>
              <a:t>Enrollments</a:t>
            </a:r>
          </a:p>
        </p:txBody>
      </p:sp>
      <p:sp>
        <p:nvSpPr>
          <p:cNvPr id="18" name="Freccia angolare in su 17">
            <a:extLst>
              <a:ext uri="{FF2B5EF4-FFF2-40B4-BE49-F238E27FC236}">
                <a16:creationId xmlns:a16="http://schemas.microsoft.com/office/drawing/2014/main" id="{1F727B7D-C89C-8C79-E9F3-93CD471E146A}"/>
              </a:ext>
            </a:extLst>
          </p:cNvPr>
          <p:cNvSpPr/>
          <p:nvPr/>
        </p:nvSpPr>
        <p:spPr>
          <a:xfrm flipH="1">
            <a:off x="1208544" y="4593157"/>
            <a:ext cx="1415406" cy="132050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F6405268-C242-AA67-00D1-21CD5DECB63C}"/>
              </a:ext>
            </a:extLst>
          </p:cNvPr>
          <p:cNvSpPr/>
          <p:nvPr/>
        </p:nvSpPr>
        <p:spPr>
          <a:xfrm>
            <a:off x="3259077" y="3683248"/>
            <a:ext cx="1639150" cy="1052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 err="1">
                <a:ea typeface="Calibri"/>
                <a:cs typeface="Calibri"/>
              </a:rPr>
              <a:t>Similarity</a:t>
            </a:r>
            <a:r>
              <a:rPr lang="it-IT" dirty="0">
                <a:ea typeface="Calibri"/>
                <a:cs typeface="Calibri"/>
              </a:rPr>
              <a:t> Matrix</a:t>
            </a:r>
            <a:endParaRPr lang="it-IT" dirty="0"/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2E39F25A-28F1-E92C-E1E7-0D529D0A1152}"/>
              </a:ext>
            </a:extLst>
          </p:cNvPr>
          <p:cNvSpPr/>
          <p:nvPr/>
        </p:nvSpPr>
        <p:spPr>
          <a:xfrm>
            <a:off x="2364998" y="4015102"/>
            <a:ext cx="878591" cy="3807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C7D87468-8769-8A5E-FE6F-F94E81A77E2C}"/>
              </a:ext>
            </a:extLst>
          </p:cNvPr>
          <p:cNvSpPr/>
          <p:nvPr/>
        </p:nvSpPr>
        <p:spPr>
          <a:xfrm>
            <a:off x="3411865" y="2796850"/>
            <a:ext cx="1449676" cy="3953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ea typeface="Calibri"/>
                <a:cs typeface="Calibri"/>
              </a:rPr>
              <a:t>Dot Product</a:t>
            </a:r>
            <a:endParaRPr lang="it-IT"/>
          </a:p>
        </p:txBody>
      </p:sp>
      <p:sp>
        <p:nvSpPr>
          <p:cNvPr id="22" name="Freccia in giù 21">
            <a:extLst>
              <a:ext uri="{FF2B5EF4-FFF2-40B4-BE49-F238E27FC236}">
                <a16:creationId xmlns:a16="http://schemas.microsoft.com/office/drawing/2014/main" id="{78EFE303-D7BB-579A-C2C4-FC35F02B94DC}"/>
              </a:ext>
            </a:extLst>
          </p:cNvPr>
          <p:cNvSpPr/>
          <p:nvPr/>
        </p:nvSpPr>
        <p:spPr>
          <a:xfrm>
            <a:off x="3952929" y="2255052"/>
            <a:ext cx="263577" cy="5417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reccia in su 22">
            <a:extLst>
              <a:ext uri="{FF2B5EF4-FFF2-40B4-BE49-F238E27FC236}">
                <a16:creationId xmlns:a16="http://schemas.microsoft.com/office/drawing/2014/main" id="{F04FAD32-B48B-1E96-3819-1F374DF47D8A}"/>
              </a:ext>
            </a:extLst>
          </p:cNvPr>
          <p:cNvSpPr/>
          <p:nvPr/>
        </p:nvSpPr>
        <p:spPr>
          <a:xfrm>
            <a:off x="3938286" y="3206859"/>
            <a:ext cx="322150" cy="48322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C4F9FD94-BF8E-D451-30D1-F773F0B7AFAC}"/>
              </a:ext>
            </a:extLst>
          </p:cNvPr>
          <p:cNvSpPr/>
          <p:nvPr/>
        </p:nvSpPr>
        <p:spPr>
          <a:xfrm>
            <a:off x="5810120" y="2523683"/>
            <a:ext cx="1639150" cy="1052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 err="1">
                <a:ea typeface="Calibri"/>
                <a:cs typeface="Calibri"/>
              </a:rPr>
              <a:t>Weighted</a:t>
            </a:r>
            <a:r>
              <a:rPr lang="it-IT" dirty="0">
                <a:ea typeface="Calibri"/>
                <a:cs typeface="Calibri"/>
              </a:rPr>
              <a:t> Ratings</a:t>
            </a:r>
          </a:p>
          <a:p>
            <a:pPr algn="ctr"/>
            <a:r>
              <a:rPr lang="it-IT">
                <a:ea typeface="Calibri"/>
                <a:cs typeface="Calibri"/>
              </a:rPr>
              <a:t>Matrix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5ADEB5A5-4287-E507-6BEA-FC3F45D2AEC2}"/>
              </a:ext>
            </a:extLst>
          </p:cNvPr>
          <p:cNvSpPr/>
          <p:nvPr/>
        </p:nvSpPr>
        <p:spPr>
          <a:xfrm>
            <a:off x="8659337" y="2313856"/>
            <a:ext cx="1992541" cy="13281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 err="1">
                <a:ea typeface="Calibri"/>
                <a:cs typeface="Calibri"/>
              </a:rPr>
              <a:t>Recommendation</a:t>
            </a:r>
            <a:endParaRPr lang="it-IT">
              <a:ea typeface="Calibri"/>
              <a:cs typeface="Calibri"/>
            </a:endParaRPr>
          </a:p>
          <a:p>
            <a:pPr algn="ctr"/>
            <a:r>
              <a:rPr lang="it-IT">
                <a:ea typeface="Calibri"/>
                <a:cs typeface="Calibri"/>
              </a:rPr>
              <a:t>Matrix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26" name="Freccia a destra 25">
            <a:extLst>
              <a:ext uri="{FF2B5EF4-FFF2-40B4-BE49-F238E27FC236}">
                <a16:creationId xmlns:a16="http://schemas.microsoft.com/office/drawing/2014/main" id="{6E0C8839-63AE-5537-6849-3740624F74BD}"/>
              </a:ext>
            </a:extLst>
          </p:cNvPr>
          <p:cNvSpPr/>
          <p:nvPr/>
        </p:nvSpPr>
        <p:spPr>
          <a:xfrm>
            <a:off x="4849780" y="2800319"/>
            <a:ext cx="955896" cy="3807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reccia a destra 26">
            <a:extLst>
              <a:ext uri="{FF2B5EF4-FFF2-40B4-BE49-F238E27FC236}">
                <a16:creationId xmlns:a16="http://schemas.microsoft.com/office/drawing/2014/main" id="{B25744C1-98ED-2EF9-25B5-8A3507356381}"/>
              </a:ext>
            </a:extLst>
          </p:cNvPr>
          <p:cNvSpPr/>
          <p:nvPr/>
        </p:nvSpPr>
        <p:spPr>
          <a:xfrm>
            <a:off x="7456041" y="2811362"/>
            <a:ext cx="1198852" cy="3807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Freccia angolare in su 27">
            <a:extLst>
              <a:ext uri="{FF2B5EF4-FFF2-40B4-BE49-F238E27FC236}">
                <a16:creationId xmlns:a16="http://schemas.microsoft.com/office/drawing/2014/main" id="{76E75BA9-770F-DF1C-1DFF-038844A6A509}"/>
              </a:ext>
            </a:extLst>
          </p:cNvPr>
          <p:cNvSpPr/>
          <p:nvPr/>
        </p:nvSpPr>
        <p:spPr>
          <a:xfrm>
            <a:off x="4909952" y="3643420"/>
            <a:ext cx="4956680" cy="71311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3261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6EB370-3F0F-1B41-BFE3-77AFB99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B49CB"/>
                </a:solidFill>
                <a:latin typeface="Abadi"/>
              </a:rPr>
              <a:t>Flowchart of NMF based recommender system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B603455-A0C9-4AEB-9B86-FF53F49F7E9A}"/>
              </a:ext>
            </a:extLst>
          </p:cNvPr>
          <p:cNvSpPr/>
          <p:nvPr/>
        </p:nvSpPr>
        <p:spPr>
          <a:xfrm>
            <a:off x="368464" y="2484805"/>
            <a:ext cx="1848563" cy="1918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ea typeface="Calibri"/>
                <a:cs typeface="Calibri"/>
              </a:rPr>
              <a:t>Sparse User-Item</a:t>
            </a:r>
          </a:p>
          <a:p>
            <a:pPr algn="ctr"/>
            <a:r>
              <a:rPr lang="it-IT">
                <a:ea typeface="Calibri"/>
                <a:cs typeface="Calibri"/>
              </a:rPr>
              <a:t>Interaction Matrix</a:t>
            </a:r>
          </a:p>
          <a:p>
            <a:pPr algn="ctr"/>
            <a:r>
              <a:rPr lang="it-IT">
                <a:ea typeface="Calibri"/>
                <a:cs typeface="Calibri"/>
              </a:rPr>
              <a:t>(incomplete)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0DE60627-D8E7-7CC3-A680-FF1565DD6592}"/>
              </a:ext>
            </a:extLst>
          </p:cNvPr>
          <p:cNvSpPr/>
          <p:nvPr/>
        </p:nvSpPr>
        <p:spPr>
          <a:xfrm>
            <a:off x="2229093" y="3139765"/>
            <a:ext cx="883753" cy="618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10362738-81A3-9733-E8CA-EB2685EAF24A}"/>
              </a:ext>
            </a:extLst>
          </p:cNvPr>
          <p:cNvSpPr/>
          <p:nvPr/>
        </p:nvSpPr>
        <p:spPr>
          <a:xfrm>
            <a:off x="3144375" y="2911166"/>
            <a:ext cx="1241229" cy="1061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ea typeface="Calibri"/>
                <a:cs typeface="Calibri"/>
              </a:rPr>
              <a:t>NMF</a:t>
            </a:r>
            <a:endParaRPr lang="it-IT"/>
          </a:p>
        </p:txBody>
      </p:sp>
      <p:sp>
        <p:nvSpPr>
          <p:cNvPr id="11" name="Freccia angolare bidirezionale 10">
            <a:extLst>
              <a:ext uri="{FF2B5EF4-FFF2-40B4-BE49-F238E27FC236}">
                <a16:creationId xmlns:a16="http://schemas.microsoft.com/office/drawing/2014/main" id="{DA652AEA-B338-133E-A614-5EEAD927BC36}"/>
              </a:ext>
            </a:extLst>
          </p:cNvPr>
          <p:cNvSpPr/>
          <p:nvPr/>
        </p:nvSpPr>
        <p:spPr>
          <a:xfrm rot="8040000">
            <a:off x="4429392" y="2646895"/>
            <a:ext cx="1652902" cy="1592577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C90723C-88BA-5812-4A63-87FED2F63122}"/>
              </a:ext>
            </a:extLst>
          </p:cNvPr>
          <p:cNvSpPr/>
          <p:nvPr/>
        </p:nvSpPr>
        <p:spPr>
          <a:xfrm>
            <a:off x="5595607" y="2066617"/>
            <a:ext cx="1918331" cy="1085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User </a:t>
            </a:r>
            <a:r>
              <a:rPr lang="it-IT" dirty="0" err="1">
                <a:ea typeface="Calibri"/>
                <a:cs typeface="Calibri"/>
              </a:rPr>
              <a:t>Latent</a:t>
            </a:r>
            <a:r>
              <a:rPr lang="it-IT" dirty="0">
                <a:ea typeface="Calibri"/>
                <a:cs typeface="Calibri"/>
              </a:rPr>
              <a:t> Matrix</a:t>
            </a:r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B6B41B3-692E-C1CF-DD0A-4B7200E2B74E}"/>
              </a:ext>
            </a:extLst>
          </p:cNvPr>
          <p:cNvSpPr/>
          <p:nvPr/>
        </p:nvSpPr>
        <p:spPr>
          <a:xfrm>
            <a:off x="5595607" y="3899834"/>
            <a:ext cx="1918331" cy="1085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Item </a:t>
            </a:r>
            <a:r>
              <a:rPr lang="it-IT" dirty="0" err="1">
                <a:ea typeface="Calibri"/>
                <a:cs typeface="Calibri"/>
              </a:rPr>
              <a:t>Latent</a:t>
            </a:r>
            <a:r>
              <a:rPr lang="it-IT" dirty="0">
                <a:ea typeface="Calibri"/>
                <a:cs typeface="Calibri"/>
              </a:rPr>
              <a:t> Matrix</a:t>
            </a:r>
            <a:endParaRPr lang="it-IT" dirty="0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F1C6DF24-5896-5170-86B6-F37AAD26F7C2}"/>
              </a:ext>
            </a:extLst>
          </p:cNvPr>
          <p:cNvSpPr/>
          <p:nvPr/>
        </p:nvSpPr>
        <p:spPr>
          <a:xfrm>
            <a:off x="7948288" y="3154122"/>
            <a:ext cx="1241229" cy="7414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ea typeface="Calibri"/>
                <a:cs typeface="Calibri"/>
              </a:rPr>
              <a:t>Dot Product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22" name="Freccia curva 21">
            <a:extLst>
              <a:ext uri="{FF2B5EF4-FFF2-40B4-BE49-F238E27FC236}">
                <a16:creationId xmlns:a16="http://schemas.microsoft.com/office/drawing/2014/main" id="{FB8B44AF-FFD4-5F73-B187-441590C71F32}"/>
              </a:ext>
            </a:extLst>
          </p:cNvPr>
          <p:cNvSpPr/>
          <p:nvPr/>
        </p:nvSpPr>
        <p:spPr>
          <a:xfrm rot="5400000">
            <a:off x="7800654" y="2224265"/>
            <a:ext cx="632044" cy="1228829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3" name="Freccia curva 22">
            <a:extLst>
              <a:ext uri="{FF2B5EF4-FFF2-40B4-BE49-F238E27FC236}">
                <a16:creationId xmlns:a16="http://schemas.microsoft.com/office/drawing/2014/main" id="{C26D0934-3C2F-8259-AD11-659545FABA5A}"/>
              </a:ext>
            </a:extLst>
          </p:cNvPr>
          <p:cNvSpPr/>
          <p:nvPr/>
        </p:nvSpPr>
        <p:spPr>
          <a:xfrm rot="5400000" flipH="1">
            <a:off x="7797697" y="3610222"/>
            <a:ext cx="649000" cy="121778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30E9635D-8C01-861C-B6DE-7ABC6DD068E3}"/>
              </a:ext>
            </a:extLst>
          </p:cNvPr>
          <p:cNvSpPr/>
          <p:nvPr/>
        </p:nvSpPr>
        <p:spPr>
          <a:xfrm>
            <a:off x="9965245" y="2540024"/>
            <a:ext cx="1859607" cy="1918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ea typeface="Calibri"/>
                <a:cs typeface="Calibri"/>
              </a:rPr>
              <a:t>Sparse User-Item</a:t>
            </a:r>
          </a:p>
          <a:p>
            <a:pPr algn="ctr"/>
            <a:r>
              <a:rPr lang="it-IT">
                <a:ea typeface="Calibri"/>
                <a:cs typeface="Calibri"/>
              </a:rPr>
              <a:t>Interaction Matrix</a:t>
            </a:r>
          </a:p>
          <a:p>
            <a:pPr algn="ctr"/>
            <a:r>
              <a:rPr lang="it-IT">
                <a:ea typeface="Calibri"/>
                <a:cs typeface="Calibri"/>
              </a:rPr>
              <a:t>(complete)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25" name="Freccia a destra 24">
            <a:extLst>
              <a:ext uri="{FF2B5EF4-FFF2-40B4-BE49-F238E27FC236}">
                <a16:creationId xmlns:a16="http://schemas.microsoft.com/office/drawing/2014/main" id="{3CA74394-AFFC-6BD1-7147-D37B35D47DF9}"/>
              </a:ext>
            </a:extLst>
          </p:cNvPr>
          <p:cNvSpPr/>
          <p:nvPr/>
        </p:nvSpPr>
        <p:spPr>
          <a:xfrm>
            <a:off x="9186484" y="3172896"/>
            <a:ext cx="773319" cy="618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5939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6EB370-3F0F-1B41-BFE3-77AFB99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B49CB"/>
                </a:solidFill>
                <a:latin typeface="Abadi"/>
              </a:rPr>
              <a:t>Flowchart of Neural Network Embedding based recommender system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59A31CB-0067-80F0-3039-5B35262284E5}"/>
              </a:ext>
            </a:extLst>
          </p:cNvPr>
          <p:cNvSpPr/>
          <p:nvPr/>
        </p:nvSpPr>
        <p:spPr>
          <a:xfrm>
            <a:off x="368464" y="2517935"/>
            <a:ext cx="1793346" cy="1907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ea typeface="Calibri"/>
                <a:cs typeface="Calibri"/>
              </a:rPr>
              <a:t>Sparse User-Item</a:t>
            </a:r>
          </a:p>
          <a:p>
            <a:pPr algn="ctr"/>
            <a:r>
              <a:rPr lang="it-IT">
                <a:ea typeface="Calibri"/>
                <a:cs typeface="Calibri"/>
              </a:rPr>
              <a:t>Interaction Matrix</a:t>
            </a:r>
          </a:p>
          <a:p>
            <a:pPr algn="ctr"/>
            <a:r>
              <a:rPr lang="it-IT">
                <a:ea typeface="Calibri"/>
                <a:cs typeface="Calibri"/>
              </a:rPr>
              <a:t>(incomplete)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15297219-715D-A6B1-8B8D-303DD18C2FBB}"/>
              </a:ext>
            </a:extLst>
          </p:cNvPr>
          <p:cNvSpPr/>
          <p:nvPr/>
        </p:nvSpPr>
        <p:spPr>
          <a:xfrm>
            <a:off x="5740919" y="2300461"/>
            <a:ext cx="453057" cy="5850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EE3915EA-73FA-D812-3E32-9B63123B2ED1}"/>
              </a:ext>
            </a:extLst>
          </p:cNvPr>
          <p:cNvSpPr/>
          <p:nvPr/>
        </p:nvSpPr>
        <p:spPr>
          <a:xfrm>
            <a:off x="4359159" y="2071862"/>
            <a:ext cx="1384793" cy="1072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User </a:t>
            </a:r>
            <a:r>
              <a:rPr lang="it-IT" dirty="0" err="1">
                <a:ea typeface="Calibri"/>
                <a:cs typeface="Calibri"/>
              </a:rPr>
              <a:t>Embedding</a:t>
            </a:r>
            <a:endParaRPr lang="it-IT">
              <a:ea typeface="Calibri"/>
              <a:cs typeface="Calibri"/>
            </a:endParaRPr>
          </a:p>
          <a:p>
            <a:pPr algn="ctr"/>
            <a:r>
              <a:rPr lang="it-IT">
                <a:ea typeface="Calibri"/>
                <a:cs typeface="Calibri"/>
              </a:rPr>
              <a:t>Layer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20" name="Freccia angolare bidirezionale 19">
            <a:extLst>
              <a:ext uri="{FF2B5EF4-FFF2-40B4-BE49-F238E27FC236}">
                <a16:creationId xmlns:a16="http://schemas.microsoft.com/office/drawing/2014/main" id="{0C2BFD22-BCFE-03F4-CF7E-7FB7FF3E9FAE}"/>
              </a:ext>
            </a:extLst>
          </p:cNvPr>
          <p:cNvSpPr/>
          <p:nvPr/>
        </p:nvSpPr>
        <p:spPr>
          <a:xfrm rot="8040000">
            <a:off x="2189319" y="2932731"/>
            <a:ext cx="1034468" cy="1040405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3FD02DA4-8578-6923-61C5-2DCBFE1FAB16}"/>
              </a:ext>
            </a:extLst>
          </p:cNvPr>
          <p:cNvSpPr/>
          <p:nvPr/>
        </p:nvSpPr>
        <p:spPr>
          <a:xfrm>
            <a:off x="6191954" y="2066617"/>
            <a:ext cx="1918331" cy="1085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ea typeface="Calibri"/>
                <a:cs typeface="Calibri"/>
              </a:rPr>
              <a:t>User Feature Matrix</a:t>
            </a:r>
            <a:endParaRPr lang="it-IT" dirty="0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F659154C-0056-E444-DA39-96F76E5B6286}"/>
              </a:ext>
            </a:extLst>
          </p:cNvPr>
          <p:cNvSpPr/>
          <p:nvPr/>
        </p:nvSpPr>
        <p:spPr>
          <a:xfrm>
            <a:off x="6191954" y="3899834"/>
            <a:ext cx="1918331" cy="1085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ea typeface="Calibri"/>
                <a:cs typeface="Calibri"/>
              </a:rPr>
              <a:t>Item </a:t>
            </a:r>
            <a:r>
              <a:rPr lang="it-IT" dirty="0">
                <a:ea typeface="Calibri"/>
                <a:cs typeface="Calibri"/>
              </a:rPr>
              <a:t>Feature Matrix</a:t>
            </a:r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57B1CECB-13C6-6401-0389-7F02C86D5A68}"/>
              </a:ext>
            </a:extLst>
          </p:cNvPr>
          <p:cNvSpPr/>
          <p:nvPr/>
        </p:nvSpPr>
        <p:spPr>
          <a:xfrm>
            <a:off x="8279592" y="3154122"/>
            <a:ext cx="1241229" cy="7414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ea typeface="Calibri"/>
                <a:cs typeface="Calibri"/>
              </a:rPr>
              <a:t>Dot Product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28" name="Freccia curva 27">
            <a:extLst>
              <a:ext uri="{FF2B5EF4-FFF2-40B4-BE49-F238E27FC236}">
                <a16:creationId xmlns:a16="http://schemas.microsoft.com/office/drawing/2014/main" id="{920187AD-63AC-6FED-D9FA-AEF43D34F24A}"/>
              </a:ext>
            </a:extLst>
          </p:cNvPr>
          <p:cNvSpPr/>
          <p:nvPr/>
        </p:nvSpPr>
        <p:spPr>
          <a:xfrm rot="5400000">
            <a:off x="8275523" y="2367830"/>
            <a:ext cx="632044" cy="941699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30" name="Freccia curva 29">
            <a:extLst>
              <a:ext uri="{FF2B5EF4-FFF2-40B4-BE49-F238E27FC236}">
                <a16:creationId xmlns:a16="http://schemas.microsoft.com/office/drawing/2014/main" id="{3A250F5A-56DB-F25D-F38D-85261117BFA3}"/>
              </a:ext>
            </a:extLst>
          </p:cNvPr>
          <p:cNvSpPr/>
          <p:nvPr/>
        </p:nvSpPr>
        <p:spPr>
          <a:xfrm rot="5400000" flipH="1">
            <a:off x="8272566" y="3753787"/>
            <a:ext cx="649000" cy="93065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57BBBCCC-5EC0-FEC8-ABC0-EC57CCF225EA}"/>
              </a:ext>
            </a:extLst>
          </p:cNvPr>
          <p:cNvSpPr/>
          <p:nvPr/>
        </p:nvSpPr>
        <p:spPr>
          <a:xfrm>
            <a:off x="9965245" y="2540024"/>
            <a:ext cx="1859607" cy="1918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ea typeface="Calibri"/>
                <a:cs typeface="Calibri"/>
              </a:rPr>
              <a:t>Sparse User-Item</a:t>
            </a:r>
          </a:p>
          <a:p>
            <a:pPr algn="ctr"/>
            <a:r>
              <a:rPr lang="it-IT">
                <a:ea typeface="Calibri"/>
                <a:cs typeface="Calibri"/>
              </a:rPr>
              <a:t>Interaction Matrix</a:t>
            </a:r>
          </a:p>
          <a:p>
            <a:pPr algn="ctr"/>
            <a:r>
              <a:rPr lang="it-IT">
                <a:ea typeface="Calibri"/>
                <a:cs typeface="Calibri"/>
              </a:rPr>
              <a:t>(complete)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34" name="Freccia a destra 33">
            <a:extLst>
              <a:ext uri="{FF2B5EF4-FFF2-40B4-BE49-F238E27FC236}">
                <a16:creationId xmlns:a16="http://schemas.microsoft.com/office/drawing/2014/main" id="{79FD8DAF-1458-F03F-2FD0-93076A30D9D5}"/>
              </a:ext>
            </a:extLst>
          </p:cNvPr>
          <p:cNvSpPr/>
          <p:nvPr/>
        </p:nvSpPr>
        <p:spPr>
          <a:xfrm>
            <a:off x="9517788" y="3161853"/>
            <a:ext cx="442015" cy="6292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F201806D-A393-BD5F-EDB8-1AE8636E7537}"/>
              </a:ext>
            </a:extLst>
          </p:cNvPr>
          <p:cNvSpPr/>
          <p:nvPr/>
        </p:nvSpPr>
        <p:spPr>
          <a:xfrm>
            <a:off x="4359159" y="3871949"/>
            <a:ext cx="1384793" cy="1072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Item </a:t>
            </a:r>
            <a:r>
              <a:rPr lang="it-IT" dirty="0" err="1">
                <a:ea typeface="Calibri"/>
                <a:cs typeface="Calibri"/>
              </a:rPr>
              <a:t>Embedding</a:t>
            </a:r>
            <a:endParaRPr lang="it-IT">
              <a:ea typeface="Calibri"/>
              <a:cs typeface="Calibri"/>
            </a:endParaRPr>
          </a:p>
          <a:p>
            <a:pPr algn="ctr"/>
            <a:r>
              <a:rPr lang="it-IT">
                <a:ea typeface="Calibri"/>
                <a:cs typeface="Calibri"/>
              </a:rPr>
              <a:t>Layer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58" name="Freccia a destra 57">
            <a:extLst>
              <a:ext uri="{FF2B5EF4-FFF2-40B4-BE49-F238E27FC236}">
                <a16:creationId xmlns:a16="http://schemas.microsoft.com/office/drawing/2014/main" id="{B8837DAA-9F90-B9AF-ED11-6C7F83B4CE41}"/>
              </a:ext>
            </a:extLst>
          </p:cNvPr>
          <p:cNvSpPr/>
          <p:nvPr/>
        </p:nvSpPr>
        <p:spPr>
          <a:xfrm>
            <a:off x="5740919" y="4144722"/>
            <a:ext cx="453057" cy="5850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7AB50787-766D-F7D8-5C2A-03262D93AB8F}"/>
              </a:ext>
            </a:extLst>
          </p:cNvPr>
          <p:cNvSpPr/>
          <p:nvPr/>
        </p:nvSpPr>
        <p:spPr>
          <a:xfrm>
            <a:off x="2912041" y="2077662"/>
            <a:ext cx="1023810" cy="1085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User One-Hot </a:t>
            </a:r>
            <a:r>
              <a:rPr lang="it-IT" dirty="0" err="1">
                <a:ea typeface="Calibri"/>
                <a:cs typeface="Calibri"/>
              </a:rPr>
              <a:t>Vector</a:t>
            </a:r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0EE7BC5F-4B93-2FD3-B37D-95994492C37B}"/>
              </a:ext>
            </a:extLst>
          </p:cNvPr>
          <p:cNvSpPr/>
          <p:nvPr/>
        </p:nvSpPr>
        <p:spPr>
          <a:xfrm>
            <a:off x="2934128" y="3855662"/>
            <a:ext cx="1023810" cy="1085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ea typeface="Calibri"/>
                <a:cs typeface="Calibri"/>
              </a:rPr>
              <a:t>Item One-Hot </a:t>
            </a:r>
            <a:r>
              <a:rPr lang="it-IT" dirty="0" err="1">
                <a:ea typeface="Calibri"/>
                <a:cs typeface="Calibri"/>
              </a:rPr>
              <a:t>Vector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61" name="Freccia a destra 60">
            <a:extLst>
              <a:ext uri="{FF2B5EF4-FFF2-40B4-BE49-F238E27FC236}">
                <a16:creationId xmlns:a16="http://schemas.microsoft.com/office/drawing/2014/main" id="{AF31B66A-08F7-45D0-B387-D4EFD8C1136D}"/>
              </a:ext>
            </a:extLst>
          </p:cNvPr>
          <p:cNvSpPr/>
          <p:nvPr/>
        </p:nvSpPr>
        <p:spPr>
          <a:xfrm>
            <a:off x="3940831" y="2300462"/>
            <a:ext cx="408884" cy="5850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Freccia a destra 61">
            <a:extLst>
              <a:ext uri="{FF2B5EF4-FFF2-40B4-BE49-F238E27FC236}">
                <a16:creationId xmlns:a16="http://schemas.microsoft.com/office/drawing/2014/main" id="{B9573702-8BCE-061D-2553-EA68D633CF39}"/>
              </a:ext>
            </a:extLst>
          </p:cNvPr>
          <p:cNvSpPr/>
          <p:nvPr/>
        </p:nvSpPr>
        <p:spPr>
          <a:xfrm>
            <a:off x="3951874" y="4133679"/>
            <a:ext cx="408884" cy="5850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1004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6EB370-3F0F-1B41-BFE3-77AFB99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B49CB"/>
                </a:solidFill>
                <a:latin typeface="Abadi"/>
              </a:rPr>
              <a:t>Compare the performance of collaborative-filtering models</a:t>
            </a:r>
          </a:p>
        </p:txBody>
      </p:sp>
      <p:graphicFrame>
        <p:nvGraphicFramePr>
          <p:cNvPr id="2" name="Grafico 1">
            <a:extLst>
              <a:ext uri="{FF2B5EF4-FFF2-40B4-BE49-F238E27FC236}">
                <a16:creationId xmlns:a16="http://schemas.microsoft.com/office/drawing/2014/main" id="{5B2B75DD-C460-AEA2-84B3-86D4F76F9B97}"/>
              </a:ext>
              <a:ext uri="{147F2762-F138-4A5C-976F-8EAC2B608ADB}">
                <a16:predDERef xmlns:a16="http://schemas.microsoft.com/office/drawing/2014/main" pred="{8A8C528C-D293-9198-61DD-43A68ED5ED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7516850"/>
              </p:ext>
            </p:extLst>
          </p:nvPr>
        </p:nvGraphicFramePr>
        <p:xfrm>
          <a:off x="840201" y="1483760"/>
          <a:ext cx="10514633" cy="5008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30130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F895B-4D66-C9AD-2F2F-A5BAAC7A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F05FD-E35A-5755-4E43-920213141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941EA33-108A-D69D-5B4F-954604E3AF6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742532"/>
            <a:ext cx="10696781" cy="4583250"/>
          </a:xfrm>
          <a:prstGeom prst="rect">
            <a:avLst/>
          </a:prstGeom>
        </p:spPr>
        <p:txBody>
          <a:bodyPr lIns="91440" tIns="45720" rIns="91440" bIns="4572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Clustering-based methods allow higher flexibility for an unsupervised recommender system</a:t>
            </a:r>
          </a:p>
          <a:p>
            <a:pPr lvl="1">
              <a:lnSpc>
                <a:spcPct val="100000"/>
              </a:lnSpc>
              <a:spcBef>
                <a:spcPts val="1400"/>
              </a:spcBef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Variety of results depending on chosen clustering method, #clusters, threshold, etc.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Content-based unsupervised recommender systems follow more of a deterministic approach</a:t>
            </a:r>
          </a:p>
          <a:p>
            <a:pPr lvl="1">
              <a:lnSpc>
                <a:spcPct val="100000"/>
              </a:lnSpc>
              <a:spcBef>
                <a:spcPts val="1400"/>
              </a:spcBef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User profile-based system yielded a considerably higher #recommendations per user (20-60) compared with Course similarity-based system (1-3)</a:t>
            </a:r>
          </a:p>
          <a:p>
            <a:pPr lvl="2">
              <a:lnSpc>
                <a:spcPct val="100000"/>
              </a:lnSpc>
              <a:spcBef>
                <a:spcPts val="14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This generally happens because similarities among users are more frequent than those among items, also due to their relative amounts</a:t>
            </a:r>
          </a:p>
          <a:p>
            <a:pPr lvl="2">
              <a:lnSpc>
                <a:spcPct val="100000"/>
              </a:lnSpc>
              <a:spcBef>
                <a:spcPts val="14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On the other </a:t>
            </a:r>
            <a:r>
              <a:rPr lang="en-US" sz="1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hand</a:t>
            </a:r>
            <a:r>
              <a:rPr lang="en-US" sz="1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the User Profile-based method doesn't allow to recommend items of new genres to the target user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NN Embedding-based resulted as the best-performing supervised recommender system</a:t>
            </a:r>
            <a:endParaRPr lang="it-IT">
              <a:solidFill>
                <a:schemeClr val="accent3">
                  <a:lumMod val="25000"/>
                </a:schemeClr>
              </a:solidFill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400"/>
              </a:spcBef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Overcome problems of data sparsity, cold start and scalability of standard collaborative filtering methods</a:t>
            </a:r>
          </a:p>
          <a:p>
            <a:pPr lvl="1">
              <a:lnSpc>
                <a:spcPct val="100000"/>
              </a:lnSpc>
              <a:spcBef>
                <a:spcPts val="1400"/>
              </a:spcBef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But requires a large training dataset as well as careful hyperparameter tuning and regularization</a:t>
            </a:r>
            <a:endParaRPr lang="en-US" sz="16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As part of future </a:t>
            </a:r>
            <a:r>
              <a:rPr lang="en-US" sz="20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developments</a:t>
            </a: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it's possible to investigate Regression-/Classification-based Recommenders integrating NN Embeddings as input features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696D86-ECB9-D8BD-94F9-530A12EB179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071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428826"/>
            <a:ext cx="10515600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>
                <a:solidFill>
                  <a:srgbClr val="1C7DDB"/>
                </a:solidFill>
                <a:latin typeface="Abadi"/>
              </a:rPr>
              <a:t>Best-performing model code &amp; run history</a:t>
            </a:r>
            <a:endParaRPr lang="it-IT" sz="2000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B118864-9B9D-0C48-2CE6-46BA00A405B6}"/>
              </a:ext>
            </a:extLst>
          </p:cNvPr>
          <p:cNvSpPr txBox="1"/>
          <p:nvPr/>
        </p:nvSpPr>
        <p:spPr>
          <a:xfrm>
            <a:off x="784088" y="1805609"/>
            <a:ext cx="11231216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 err="1">
                <a:ea typeface="+mn-lt"/>
                <a:cs typeface="+mn-lt"/>
              </a:rPr>
              <a:t>embedding_size</a:t>
            </a:r>
            <a:r>
              <a:rPr lang="it-IT" dirty="0">
                <a:ea typeface="+mn-lt"/>
                <a:cs typeface="+mn-lt"/>
              </a:rPr>
              <a:t> = 16 </a:t>
            </a:r>
            <a:endParaRPr lang="it-IT" dirty="0"/>
          </a:p>
          <a:p>
            <a:r>
              <a:rPr lang="it-IT" dirty="0" err="1">
                <a:ea typeface="+mn-lt"/>
                <a:cs typeface="+mn-lt"/>
              </a:rPr>
              <a:t>ridge_alpha</a:t>
            </a:r>
            <a:r>
              <a:rPr lang="it-IT" dirty="0">
                <a:ea typeface="+mn-lt"/>
                <a:cs typeface="+mn-lt"/>
              </a:rPr>
              <a:t> = 1e-5 </a:t>
            </a:r>
          </a:p>
          <a:p>
            <a:r>
              <a:rPr lang="it-IT" dirty="0">
                <a:ea typeface="+mn-lt"/>
                <a:cs typeface="+mn-lt"/>
              </a:rPr>
              <a:t>model = </a:t>
            </a:r>
            <a:r>
              <a:rPr lang="it-IT" dirty="0" err="1">
                <a:ea typeface="+mn-lt"/>
                <a:cs typeface="+mn-lt"/>
              </a:rPr>
              <a:t>RecommenderNet</a:t>
            </a:r>
            <a:r>
              <a:rPr lang="it-IT" dirty="0">
                <a:ea typeface="+mn-lt"/>
                <a:cs typeface="+mn-lt"/>
              </a:rPr>
              <a:t>(</a:t>
            </a:r>
          </a:p>
          <a:p>
            <a:r>
              <a:rPr lang="it-IT" dirty="0">
                <a:ea typeface="+mn-lt"/>
                <a:cs typeface="+mn-lt"/>
              </a:rPr>
              <a:t> </a:t>
            </a:r>
            <a:r>
              <a:rPr lang="it-IT" dirty="0" err="1">
                <a:ea typeface="+mn-lt"/>
                <a:cs typeface="+mn-lt"/>
              </a:rPr>
              <a:t>num_users</a:t>
            </a:r>
            <a:r>
              <a:rPr lang="it-IT" dirty="0">
                <a:ea typeface="+mn-lt"/>
                <a:cs typeface="+mn-lt"/>
              </a:rPr>
              <a:t>, </a:t>
            </a:r>
            <a:r>
              <a:rPr lang="it-IT" dirty="0" err="1">
                <a:ea typeface="+mn-lt"/>
                <a:cs typeface="+mn-lt"/>
              </a:rPr>
              <a:t>num_items</a:t>
            </a:r>
            <a:r>
              <a:rPr lang="it-IT" dirty="0">
                <a:ea typeface="+mn-lt"/>
                <a:cs typeface="+mn-lt"/>
              </a:rPr>
              <a:t>, </a:t>
            </a:r>
            <a:r>
              <a:rPr lang="it-IT" dirty="0" err="1">
                <a:ea typeface="+mn-lt"/>
                <a:cs typeface="+mn-lt"/>
              </a:rPr>
              <a:t>embedding_size</a:t>
            </a:r>
            <a:r>
              <a:rPr lang="it-IT" dirty="0">
                <a:ea typeface="+mn-lt"/>
                <a:cs typeface="+mn-lt"/>
              </a:rPr>
              <a:t>, </a:t>
            </a:r>
            <a:r>
              <a:rPr lang="it-IT" dirty="0" err="1">
                <a:ea typeface="+mn-lt"/>
                <a:cs typeface="+mn-lt"/>
              </a:rPr>
              <a:t>ridge_alpha</a:t>
            </a:r>
          </a:p>
          <a:p>
            <a:r>
              <a:rPr lang="it-IT">
                <a:ea typeface="+mn-lt"/>
                <a:cs typeface="+mn-lt"/>
              </a:rPr>
              <a:t>)</a:t>
            </a:r>
            <a:endParaRPr lang="it-IT">
              <a:ea typeface="Calibri"/>
              <a:cs typeface="Calibri"/>
            </a:endParaRPr>
          </a:p>
          <a:p>
            <a:r>
              <a:rPr lang="it-IT" dirty="0" err="1">
                <a:ea typeface="+mn-lt"/>
                <a:cs typeface="+mn-lt"/>
              </a:rPr>
              <a:t>model.compile</a:t>
            </a:r>
            <a:r>
              <a:rPr lang="it-IT" dirty="0">
                <a:ea typeface="+mn-lt"/>
                <a:cs typeface="+mn-lt"/>
              </a:rPr>
              <a:t>( </a:t>
            </a:r>
          </a:p>
          <a:p>
            <a:r>
              <a:rPr lang="it-IT" dirty="0">
                <a:ea typeface="+mn-lt"/>
                <a:cs typeface="+mn-lt"/>
              </a:rPr>
              <a:t> </a:t>
            </a:r>
            <a:r>
              <a:rPr lang="it-IT" dirty="0" err="1">
                <a:ea typeface="+mn-lt"/>
                <a:cs typeface="+mn-lt"/>
              </a:rPr>
              <a:t>optimizer</a:t>
            </a:r>
            <a:r>
              <a:rPr lang="it-IT" dirty="0">
                <a:ea typeface="+mn-lt"/>
                <a:cs typeface="+mn-lt"/>
              </a:rPr>
              <a:t>=</a:t>
            </a:r>
            <a:r>
              <a:rPr lang="it-IT" dirty="0" err="1">
                <a:ea typeface="+mn-lt"/>
                <a:cs typeface="+mn-lt"/>
              </a:rPr>
              <a:t>keras.optimizers.Adam</a:t>
            </a:r>
            <a:r>
              <a:rPr lang="it-IT" dirty="0">
                <a:ea typeface="+mn-lt"/>
                <a:cs typeface="+mn-lt"/>
              </a:rPr>
              <a:t>(), </a:t>
            </a:r>
          </a:p>
          <a:p>
            <a:r>
              <a:rPr lang="it-IT" dirty="0">
                <a:ea typeface="+mn-lt"/>
                <a:cs typeface="+mn-lt"/>
              </a:rPr>
              <a:t> </a:t>
            </a:r>
            <a:r>
              <a:rPr lang="it-IT" dirty="0" err="1">
                <a:ea typeface="+mn-lt"/>
                <a:cs typeface="+mn-lt"/>
              </a:rPr>
              <a:t>loss</a:t>
            </a:r>
            <a:r>
              <a:rPr lang="it-IT" dirty="0">
                <a:ea typeface="+mn-lt"/>
                <a:cs typeface="+mn-lt"/>
              </a:rPr>
              <a:t>=</a:t>
            </a:r>
            <a:r>
              <a:rPr lang="it-IT" dirty="0" err="1">
                <a:ea typeface="+mn-lt"/>
                <a:cs typeface="+mn-lt"/>
              </a:rPr>
              <a:t>keras.losses.MeanSquaredError</a:t>
            </a:r>
            <a:r>
              <a:rPr lang="it-IT" dirty="0">
                <a:ea typeface="+mn-lt"/>
                <a:cs typeface="+mn-lt"/>
              </a:rPr>
              <a:t>(), </a:t>
            </a:r>
          </a:p>
          <a:p>
            <a:r>
              <a:rPr lang="it-IT" dirty="0">
                <a:ea typeface="+mn-lt"/>
                <a:cs typeface="+mn-lt"/>
              </a:rPr>
              <a:t> </a:t>
            </a:r>
            <a:r>
              <a:rPr lang="it-IT" dirty="0" err="1">
                <a:ea typeface="+mn-lt"/>
                <a:cs typeface="+mn-lt"/>
              </a:rPr>
              <a:t>metrics</a:t>
            </a:r>
            <a:r>
              <a:rPr lang="it-IT" dirty="0">
                <a:ea typeface="+mn-lt"/>
                <a:cs typeface="+mn-lt"/>
              </a:rPr>
              <a:t>=[</a:t>
            </a:r>
            <a:r>
              <a:rPr lang="it-IT" dirty="0" err="1">
                <a:ea typeface="+mn-lt"/>
                <a:cs typeface="+mn-lt"/>
              </a:rPr>
              <a:t>tf.keras.metrics.RootMeanSquaredError</a:t>
            </a:r>
            <a:r>
              <a:rPr lang="it-IT" dirty="0">
                <a:ea typeface="+mn-lt"/>
                <a:cs typeface="+mn-lt"/>
              </a:rPr>
              <a:t>()], </a:t>
            </a:r>
          </a:p>
          <a:p>
            <a:r>
              <a:rPr lang="it-IT" dirty="0">
                <a:ea typeface="+mn-lt"/>
                <a:cs typeface="+mn-lt"/>
              </a:rPr>
              <a:t>) </a:t>
            </a:r>
          </a:p>
          <a:p>
            <a:r>
              <a:rPr lang="it-IT" dirty="0" err="1">
                <a:ea typeface="+mn-lt"/>
                <a:cs typeface="+mn-lt"/>
              </a:rPr>
              <a:t>run_hist</a:t>
            </a:r>
            <a:r>
              <a:rPr lang="it-IT" dirty="0">
                <a:ea typeface="+mn-lt"/>
                <a:cs typeface="+mn-lt"/>
              </a:rPr>
              <a:t> = </a:t>
            </a:r>
            <a:r>
              <a:rPr lang="it-IT" dirty="0" err="1">
                <a:ea typeface="+mn-lt"/>
                <a:cs typeface="+mn-lt"/>
              </a:rPr>
              <a:t>model.fit</a:t>
            </a:r>
            <a:r>
              <a:rPr lang="it-IT" dirty="0">
                <a:ea typeface="+mn-lt"/>
                <a:cs typeface="+mn-lt"/>
              </a:rPr>
              <a:t>(</a:t>
            </a:r>
            <a:r>
              <a:rPr lang="it-IT" dirty="0" err="1">
                <a:ea typeface="+mn-lt"/>
                <a:cs typeface="+mn-lt"/>
              </a:rPr>
              <a:t>x_train</a:t>
            </a:r>
            <a:r>
              <a:rPr lang="it-IT" dirty="0">
                <a:ea typeface="+mn-lt"/>
                <a:cs typeface="+mn-lt"/>
              </a:rPr>
              <a:t>, </a:t>
            </a:r>
            <a:r>
              <a:rPr lang="it-IT" dirty="0" err="1">
                <a:ea typeface="+mn-lt"/>
                <a:cs typeface="+mn-lt"/>
              </a:rPr>
              <a:t>y_train</a:t>
            </a:r>
            <a:r>
              <a:rPr lang="it-IT" dirty="0">
                <a:ea typeface="+mn-lt"/>
                <a:cs typeface="+mn-lt"/>
              </a:rPr>
              <a:t>, </a:t>
            </a:r>
            <a:r>
              <a:rPr lang="it-IT" dirty="0" err="1">
                <a:ea typeface="+mn-lt"/>
                <a:cs typeface="+mn-lt"/>
              </a:rPr>
              <a:t>validation_data=(x_val</a:t>
            </a:r>
            <a:r>
              <a:rPr lang="it-IT" dirty="0">
                <a:ea typeface="+mn-lt"/>
                <a:cs typeface="+mn-lt"/>
              </a:rPr>
              <a:t>, </a:t>
            </a:r>
            <a:r>
              <a:rPr lang="it-IT" dirty="0" err="1">
                <a:ea typeface="+mn-lt"/>
                <a:cs typeface="+mn-lt"/>
              </a:rPr>
              <a:t>y_val</a:t>
            </a:r>
            <a:r>
              <a:rPr lang="it-IT" dirty="0">
                <a:ea typeface="+mn-lt"/>
                <a:cs typeface="+mn-lt"/>
              </a:rPr>
              <a:t>), </a:t>
            </a:r>
            <a:r>
              <a:rPr lang="it-IT" dirty="0" err="1">
                <a:ea typeface="+mn-lt"/>
                <a:cs typeface="+mn-lt"/>
              </a:rPr>
              <a:t>epochs</a:t>
            </a:r>
            <a:r>
              <a:rPr lang="it-IT" dirty="0">
                <a:ea typeface="+mn-lt"/>
                <a:cs typeface="+mn-lt"/>
              </a:rPr>
              <a:t>=10, </a:t>
            </a:r>
            <a:r>
              <a:rPr lang="it-IT" dirty="0" err="1">
                <a:ea typeface="+mn-lt"/>
                <a:cs typeface="+mn-lt"/>
              </a:rPr>
              <a:t>batch_size</a:t>
            </a:r>
            <a:r>
              <a:rPr lang="it-IT" dirty="0">
                <a:ea typeface="+mn-lt"/>
                <a:cs typeface="+mn-lt"/>
              </a:rPr>
              <a:t>=64) </a:t>
            </a:r>
          </a:p>
          <a:p>
            <a:r>
              <a:rPr lang="it-IT" dirty="0" err="1">
                <a:ea typeface="+mn-lt"/>
                <a:cs typeface="+mn-lt"/>
              </a:rPr>
              <a:t>saved_model</a:t>
            </a:r>
            <a:r>
              <a:rPr lang="it-IT" dirty="0">
                <a:ea typeface="+mn-lt"/>
                <a:cs typeface="+mn-lt"/>
              </a:rPr>
              <a:t> = </a:t>
            </a:r>
            <a:r>
              <a:rPr lang="it-IT" dirty="0" err="1">
                <a:ea typeface="+mn-lt"/>
                <a:cs typeface="+mn-lt"/>
              </a:rPr>
              <a:t>model.save_weights</a:t>
            </a:r>
            <a:r>
              <a:rPr lang="it-IT">
                <a:ea typeface="+mn-lt"/>
                <a:cs typeface="+mn-lt"/>
              </a:rPr>
              <a:t>('recommender_net_</a:t>
            </a:r>
            <a:r>
              <a:rPr lang="it-IT" dirty="0" err="1">
                <a:ea typeface="+mn-lt"/>
                <a:cs typeface="+mn-lt"/>
              </a:rPr>
              <a:t>weights.weights</a:t>
            </a:r>
            <a:r>
              <a:rPr lang="it-IT">
                <a:ea typeface="+mn-lt"/>
                <a:cs typeface="+mn-lt"/>
              </a:rPr>
              <a:t>.h5') </a:t>
            </a:r>
          </a:p>
          <a:p>
            <a:endParaRPr lang="en-US"/>
          </a:p>
          <a:p>
            <a:r>
              <a:rPr lang="it-IT" dirty="0" err="1">
                <a:ea typeface="+mn-lt"/>
                <a:cs typeface="+mn-lt"/>
              </a:rPr>
              <a:t>fig</a:t>
            </a:r>
            <a:r>
              <a:rPr lang="it-IT" dirty="0">
                <a:ea typeface="+mn-lt"/>
                <a:cs typeface="+mn-lt"/>
              </a:rPr>
              <a:t>, </a:t>
            </a:r>
            <a:r>
              <a:rPr lang="it-IT" dirty="0" err="1">
                <a:ea typeface="+mn-lt"/>
                <a:cs typeface="+mn-lt"/>
              </a:rPr>
              <a:t>ax</a:t>
            </a:r>
            <a:r>
              <a:rPr lang="it-IT" dirty="0">
                <a:ea typeface="+mn-lt"/>
                <a:cs typeface="+mn-lt"/>
              </a:rPr>
              <a:t> = </a:t>
            </a:r>
            <a:r>
              <a:rPr lang="it-IT" dirty="0" err="1">
                <a:ea typeface="+mn-lt"/>
                <a:cs typeface="+mn-lt"/>
              </a:rPr>
              <a:t>plt.subplots</a:t>
            </a:r>
            <a:r>
              <a:rPr lang="it-IT" dirty="0">
                <a:ea typeface="+mn-lt"/>
                <a:cs typeface="+mn-lt"/>
              </a:rPr>
              <a:t>() </a:t>
            </a:r>
          </a:p>
          <a:p>
            <a:r>
              <a:rPr lang="it-IT" dirty="0" err="1">
                <a:ea typeface="+mn-lt"/>
                <a:cs typeface="+mn-lt"/>
              </a:rPr>
              <a:t>ax.plot</a:t>
            </a:r>
            <a:r>
              <a:rPr lang="it-IT" dirty="0">
                <a:ea typeface="+mn-lt"/>
                <a:cs typeface="+mn-lt"/>
              </a:rPr>
              <a:t>(</a:t>
            </a:r>
            <a:r>
              <a:rPr lang="it-IT" dirty="0" err="1">
                <a:ea typeface="+mn-lt"/>
                <a:cs typeface="+mn-lt"/>
              </a:rPr>
              <a:t>run_hist.history</a:t>
            </a:r>
            <a:r>
              <a:rPr lang="it-IT" dirty="0">
                <a:ea typeface="+mn-lt"/>
                <a:cs typeface="+mn-lt"/>
              </a:rPr>
              <a:t>['</a:t>
            </a:r>
            <a:r>
              <a:rPr lang="it-IT" dirty="0" err="1">
                <a:ea typeface="+mn-lt"/>
                <a:cs typeface="+mn-lt"/>
              </a:rPr>
              <a:t>loss</a:t>
            </a:r>
            <a:r>
              <a:rPr lang="it-IT">
                <a:ea typeface="+mn-lt"/>
                <a:cs typeface="+mn-lt"/>
              </a:rPr>
              <a:t>'],'r', marker='.', label='Train Loss') </a:t>
            </a:r>
          </a:p>
          <a:p>
            <a:r>
              <a:rPr lang="it-IT" dirty="0" err="1">
                <a:ea typeface="+mn-lt"/>
                <a:cs typeface="+mn-lt"/>
              </a:rPr>
              <a:t>ax.plot</a:t>
            </a:r>
            <a:r>
              <a:rPr lang="it-IT" dirty="0">
                <a:ea typeface="+mn-lt"/>
                <a:cs typeface="+mn-lt"/>
              </a:rPr>
              <a:t>(</a:t>
            </a:r>
            <a:r>
              <a:rPr lang="it-IT" dirty="0" err="1">
                <a:ea typeface="+mn-lt"/>
                <a:cs typeface="+mn-lt"/>
              </a:rPr>
              <a:t>run_hist.history</a:t>
            </a:r>
            <a:r>
              <a:rPr lang="it-IT" dirty="0">
                <a:ea typeface="+mn-lt"/>
                <a:cs typeface="+mn-lt"/>
              </a:rPr>
              <a:t>['</a:t>
            </a:r>
            <a:r>
              <a:rPr lang="it-IT" dirty="0" err="1">
                <a:ea typeface="+mn-lt"/>
                <a:cs typeface="+mn-lt"/>
              </a:rPr>
              <a:t>val_loss</a:t>
            </a:r>
            <a:r>
              <a:rPr lang="it-IT" dirty="0">
                <a:ea typeface="+mn-lt"/>
                <a:cs typeface="+mn-lt"/>
              </a:rPr>
              <a:t>'], 'b', marker='.', label='</a:t>
            </a:r>
            <a:r>
              <a:rPr lang="it-IT" dirty="0" err="1">
                <a:ea typeface="+mn-lt"/>
                <a:cs typeface="+mn-lt"/>
              </a:rPr>
              <a:t>Validation</a:t>
            </a:r>
            <a:r>
              <a:rPr lang="it-IT">
                <a:ea typeface="+mn-lt"/>
                <a:cs typeface="+mn-lt"/>
              </a:rPr>
              <a:t> Loss')</a:t>
            </a:r>
          </a:p>
          <a:p>
            <a:r>
              <a:rPr lang="it-IT" dirty="0" err="1">
                <a:ea typeface="+mn-lt"/>
                <a:cs typeface="+mn-lt"/>
              </a:rPr>
              <a:t>ax.legend</a:t>
            </a:r>
            <a:r>
              <a:rPr lang="it-IT" dirty="0">
                <a:ea typeface="+mn-lt"/>
                <a:cs typeface="+mn-lt"/>
              </a:rPr>
              <a:t>() </a:t>
            </a:r>
          </a:p>
          <a:p>
            <a:endParaRPr lang="en-US"/>
          </a:p>
          <a:p>
            <a:endParaRPr lang="it-IT"/>
          </a:p>
        </p:txBody>
      </p:sp>
      <p:pic>
        <p:nvPicPr>
          <p:cNvPr id="3" name="Immagine 2" descr="Immagine che contiene schermata, linea, Diagramma, testo&#10;&#10;Il contenuto generato dall&amp;#39;IA potrebbe non essere corretto.">
            <a:extLst>
              <a:ext uri="{FF2B5EF4-FFF2-40B4-BE49-F238E27FC236}">
                <a16:creationId xmlns:a16="http://schemas.microsoft.com/office/drawing/2014/main" id="{793B5A80-CE6A-226D-1D94-5297595EB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255" y="192433"/>
            <a:ext cx="5600010" cy="409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http://purl.org/dc/dcmitype/"/>
    <ds:schemaRef ds:uri="http://schemas.microsoft.com/office/2006/metadata/properties"/>
    <ds:schemaRef ds:uri="f80a141d-92ca-4d3d-9308-f7e7b1d44ce8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55be751-a274-42e8-93fb-f39d3b9bccc8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2546</TotalTime>
  <Words>954</Words>
  <Application>Microsoft Office PowerPoint</Application>
  <PresentationFormat>Widescreen</PresentationFormat>
  <Paragraphs>177</Paragraphs>
  <Slides>22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3" baseType="lpstr">
      <vt:lpstr>Custom Design</vt:lpstr>
      <vt:lpstr>Presentazione standard di PowerPoint</vt:lpstr>
      <vt:lpstr>Presentazione standard di PowerPoint</vt:lpstr>
      <vt:lpstr>Presentazione standard di PowerPoint</vt:lpstr>
      <vt:lpstr>Exploratory Data Analysis</vt:lpstr>
      <vt:lpstr>Course counts per genre</vt:lpstr>
      <vt:lpstr>Course enrollment distribution</vt:lpstr>
      <vt:lpstr>20 most popular courses</vt:lpstr>
      <vt:lpstr>Word cloud of course titles</vt:lpstr>
      <vt:lpstr>Content-based Recommender System using Unsupervised Learning</vt:lpstr>
      <vt:lpstr>Flowchart of content-based recommender system using user profile and course genres</vt:lpstr>
      <vt:lpstr>Evaluation results of user profile-based recommender system</vt:lpstr>
      <vt:lpstr>Flowchart of content-based recommender system using course similarity</vt:lpstr>
      <vt:lpstr>Evaluation results of course similarity-based recommender system</vt:lpstr>
      <vt:lpstr>Flowchart of clustering-based recommender system</vt:lpstr>
      <vt:lpstr>Evaluation results of clustering-based recommender system</vt:lpstr>
      <vt:lpstr>Collaborative-filtering Recommender System using Supervised Learning</vt:lpstr>
      <vt:lpstr>Flowchart of KNN-based recommender system</vt:lpstr>
      <vt:lpstr>Flowchart of NMF based recommender system</vt:lpstr>
      <vt:lpstr>Flowchart of Neural Network Embedding based recommender system</vt:lpstr>
      <vt:lpstr>Compare the performance of collaborative-filtering models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Yan Y Luo</cp:lastModifiedBy>
  <cp:revision>1285</cp:revision>
  <dcterms:created xsi:type="dcterms:W3CDTF">2021-04-29T18:58:34Z</dcterms:created>
  <dcterms:modified xsi:type="dcterms:W3CDTF">2026-04-16T11:37:50Z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